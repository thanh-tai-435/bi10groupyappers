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wellbeing study, not credit scoring. In one line: people slide into stress because they overspend on wants, usually in specific months, so ITB can offer help at the right time and never touch anyone's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row per task: signal, driver, engagement, segments, plan. The 82% (T2) is the variance explained by spend-to-income and utilization; the 28–32% is a what-if tested with holdouts (slide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required sections: Executive Summary (2), Contents (3), Introduction (4), Task results (5–21). Each task follows the brief's question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rules govern the deck: ratios over magnitudes, wellbeing over credit. The data is clean; the caveats are the synthetic ones the case documents, plus 91 customers seen only once, which we flag wherever they touch a number. 693 merchants, 34 provinces.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= December 488.0B VND (15.04% of 3.24T), trough = February 174.4B (5.37%); gap +313.7B (+9.7pp). All 14 categories grow +181% to +193% in transactions. Case §12: two source years folded onto 2025 inflate absolute VND, so the share and the 2.8× ratio are the reliable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95 stressed months (70 customers): 28.4% essential / 71.6% discretionary; 475 healthy months (303 customers): 59.5% / 40.5%. The share falls steadily across every band, so it is not a cutoff artefact (FHS&lt;35 vs ≥85: 73.5% vs 30.2%). Essentials are ~47% of transactions in both groups: the flip is in value (discretionary ticket 3.9M vs 1.1M VND). Implication: pre-purchase visibility, never credit restriction.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Qualifying = spend above the provincial median (&gt; 82.7B VND) and digital (non-POS) share below the national 41.2%. Only 3 of 6 gaps are significant (p &lt; 0.05). HCMC leads spend (13.6%) at 41.3% digital; range Cao Bang 43.1% to Quang Ngai 39.2%.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Q4: fuel is a frequent top-up (96.8% of customers buy it), groceries a stock-up basket (99.3%). Q5: 25–34 is the only cohort above national spend-to-income (0.716 vs 0.700) and below the national essential ratio (0.468 vs 0.481) — overspending on wants. But the spread is 1.2 points, 95% CIs overlap and ANOVA p = 0.13: age is a weak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 level: mean 66.3, median 66.2, std 4.7, range 42.3–80.8, skew −0.32. Month level: std 9.5; Stable 72.5% · Watch 22.4% · Healthy 4.3% · Stressed 0.9%. Who the customer is explains only 22% of monthly variance, the calendar month 25%.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Spend-to-income and utilization move together (r 0.90): one overspending factor, which also holds within each customer (r −0.90). Stressed months are 71.6% discretionary by value and have 2× the e-commerce + app share (23% vs 12%). They are also more engaged (81.1 vs 72.7). FHS and the ratios share spend fields — directional, not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Occupation: 396 titles grouped into 8 keyword groups; Eng/science/IT 69.1 and Business/finance 68.7 vs Office/public 64.5 and Manual 62.9, mirroring spend-to-income 0.61 vs 0.76–0.79. Province ANOVA p = 0.009 but only 5% of variance. Target the ratio, never the group — fairer and more 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applied per customer-month; a customer belongs if any month qualifies. 49 months / 43 customers = 51.6% of stressed months vs 25% by chance (p &lt; 0.001); top 30% / 20% give 44 / 41 customers. All 43 are full-year customers averaging FHS 62 in other months; 39 sit in the Stretched segment. Late-night count differs little (11.6% vs 9.7%): bigger tickets, led by online shopping (39%) and travel (14%). Wellbeing use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score mean 77.8, median 78.1, IQR 74.8–81.4. Every full-year customer averages ≥ 69.8, so the score separates one-off users from the base, not good customers from great ones. Channels: POS 58.8% · QR 19.8% · E-commerce 8.7% · Mobile 7.7% · Recurring 4.9%; non-POS = 41% of trips and 41.5% of value. Chart choice: histogram for a continuous score (bands shaded so the 1% tail stays visible), sorted bars for nominal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Ranges: recency 0–30 days (median 0), active days 1–31 (median 30), 2–713 transactions a month (median 150). r = +0.94 across all customers is partly two clusters; +0.81 within the 908 full-year base shows the link holds. Scatter for two continuous variables; heatmap for the recency × frequency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FHS ≥ 70 = top 21% (p79); engagement &lt; 70 is below the customer p10 (71.1). Looser cutoffs pull in active users (39 at 72.5, 63 at 75); FHS ≥ 65 gives 48, ≥ 75 gives 9. Also: age 61 vs 50, diversity 4.7 vs 13.1, spend/income 0.46 vs 0.70; 24 of 25 are Occasional Online-First. One month of data each: a watch-list, never used to limit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Preprocessing: 10,992 customer-months → 999 customers (yearly mean per ratio), 0 nulls. Features: FHS, spend/income, utilization, volatility, engagement, transactions, discretionary share, online share (z-scaled). Excluded: essential ratio (= 1 − discretionary); diversity, active days, recency (near-constant). Silhouette 0.25 = moderate separation, expected for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heatmap is the side-by-side comparison the brief asks for. Health splits Healthy from Stretched, activity isolates High-Activity (not more online: 21% vs 25% average; youngest, 60% female), and the Occasional group is defined by how rarely we see them (1.1 of 12 months). Suggested personas not formed: Essential-Spend-Focused = 4 customers; Healthy-but-Disengaged = 25, 24 of them Occasional.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Stability: 20 seeds ARI 0.988; 80% bootstrap × 50 ARI 0.911; dropping December 0.873. GMM agrees 0.26 (Occasional identical). 2×2 median cross-check agrees on health (344/351, 273/302). Segments correlate with age/gender (Cramér's V 0.23 age / 0.13 gender) → act on behaviour only. Future work: hybrid model (rule for part-year + k = 3), trajectory features, chronological early-warning on next_month_low_health_flag (support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tool per required type, each with an exact size, the column it rests on and a KPI. Every tool is opt-in and behaviour-triggered.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Wellbeing: Budgeting 271 → Reminders 128 → Alerts 37 → Education 32. Growth: Products 74 → Nudges 52. Targets skew (Reminders 60.5% female; Education/Nudges mean age ~58), so we monitor uptake by group rather than target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95 → 65 stress months with the all-customer slope, 68 with the slope inside the segment (−22.2); 9 of the 95 stress months sit outside the 302. Spend-to-income and utilization explain 82% of FHS, so only the holdout test can show real behaviour change. A hypothesis to measure, not a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remembers three things: overspending, not income; timing, not a blacklist; help offered, never credit taken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BI10 ROUND 01  ·  GROUP YAPPERS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ITB Consumer Wellbeing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Segmentation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Overspending, not low income, drives financial stress — and help can be timed to reach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13345E"/>
          </a:solidFill>
          <a:ln w="12700">
            <a:solidFill>
              <a:srgbClr val="1334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6451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30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45720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13345E"/>
          </a:solidFill>
          <a:ln w="12700">
            <a:solidFill>
              <a:srgbClr val="1334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46451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10,992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5230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45720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13345E"/>
          </a:solidFill>
          <a:ln w="12700">
            <a:solidFill>
              <a:srgbClr val="1334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46451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1.85M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5230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26680" y="45720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13345E"/>
          </a:solidFill>
          <a:ln w="12700">
            <a:solidFill>
              <a:srgbClr val="1334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46451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5230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Overspending drives stress — and it is timed, reachable and fixable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71.6% vs 40.5%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6184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flips the budget to wants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9476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Discretionary share in stressed vs healthy months; purchases ≥ 10M VND are 4% of stressed transactions but 54% of the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3288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55117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is episodic and concentrated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880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Spend-to-income (r −0.90) drives health. Nobody is stressed all year, yet 87% dip below 60; 43 active customers hold 52% of stress months.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65576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4838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saturated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3813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of customers are High / Very high; the entire low tail is 91 customers seen on only 1–2 days. Breadth and regular use drive engagement.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39826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44165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stable segments, 100% covered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47457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351 · Stretched 302 · High-Activity 258 · Occasional 88; stable across seeds (ARI 0.99). December cuts health ~13 pts in every segment.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566928" cy="56692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422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33095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−28–32%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5349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opt-in tools, one rule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069080" y="56784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Budgeting → November reminders → evening alerts lead. A 10% spend trim could cut stress months 28–32%. FHS never touches credit.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993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data quality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3736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993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Exploratory data analysis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5–8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410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Financial health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813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9–12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1546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410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Customer engagement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813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13–15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5720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828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Customer segmentation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5230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16–18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45720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828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Recommendations &amp; impact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230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19–22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wellbeing lens on 999 customers — built on clean, reconciled data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ITB wants to understand customers' financial wellbeing, spending and channel engagement — not to score credit risk.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compare ratios and shares, never absolute VND: synthetic income, credit and balances are inflated.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is measured per customer-month (it comes and goes); segments per customer (yearly profile).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data checks → EDA → health → engagement → segmentation → recommendations.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8006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8920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rule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financial_health_score is a wellbeing indicator — never used to approve or deny credit, cut a limit, raise a rate or block an account.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76672" cy="4434840"/>
          </a:xfrm>
          <a:prstGeom prst="roundRect">
            <a:avLst>
              <a:gd name="adj" fmla="val 164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checks (both files)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377440"/>
            <a:ext cx="329184" cy="329184"/>
          </a:xfrm>
          <a:prstGeom prst="ellipse">
            <a:avLst/>
          </a:prstGeom>
          <a:solidFill>
            <a:srgbClr val="1F5FA8"/>
          </a:solidFill>
          <a:ln w="15240">
            <a:solidFill>
              <a:srgbClr val="1F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3317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cells, 0 duplicate IDs, 0 negative amounts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980944"/>
            <a:ext cx="329184" cy="329184"/>
          </a:xfrm>
          <a:prstGeom prst="ellipse">
            <a:avLst/>
          </a:prstGeom>
          <a:solidFill>
            <a:srgbClr val="1F5FA8"/>
          </a:solidFill>
          <a:ln w="15240">
            <a:solidFill>
              <a:srgbClr val="1F5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935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timestamps in 2025; 1 name per customer and merchant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3584448"/>
            <a:ext cx="329184" cy="329184"/>
          </a:xfrm>
          <a:prstGeom prst="ellipse">
            <a:avLst/>
          </a:prstGeom>
          <a:solidFill>
            <a:srgbClr val="1F5FA8"/>
          </a:solidFill>
          <a:ln w="15240">
            <a:solidFill>
              <a:srgbClr val="1F5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reconcile 100% to monthly spend (10,992 months)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187952"/>
            <a:ext cx="329184" cy="329184"/>
          </a:xfrm>
          <a:prstGeom prst="ellipse">
            <a:avLst/>
          </a:prstGeom>
          <a:solidFill>
            <a:srgbClr val="1F5FA8"/>
          </a:solidFill>
          <a:ln w="15240">
            <a:solidFill>
              <a:srgbClr val="1F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1422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minors kept; 5 over-limit months kept as real behaviour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791456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74573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908 customers have 12 months; 91 appear on only 1–2 days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5394960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5F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53492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source years folded onto 2025 (case §12) → ratios are the signal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customers); consumer_transactions_2025 (1,852,394 transactions). Charts: notebooks/full_pipeline.ipynb.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EDA · Q1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is 15% of annual spend — driven by more trips, not bigger baskets</a:t>
            </a:r>
            <a:endParaRPr lang="en-US" sz="2400" dirty="0"/>
          </a:p>
        </p:txBody>
      </p:sp>
      <p:pic>
        <p:nvPicPr>
          <p:cNvPr id="4" name="Image 0" descr="D:\BI10GroupYAPPERS\outputs\figures\deck_q1_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2.9×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per customer, December vs February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488B VND = 15.04% of the year vs Feb 174B = 5.37% (2.8×)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+187%, average ticket −2.6%; active customers flat (919 → 918)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is also the weakest-health month (FHS 54.2) → plan support before it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consumer_transactions_2025 (1,852,394 transactions).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EDA · Q2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stress the budget flips: 71.6% discretionary vs 40.5% when healthy</a:t>
            </a:r>
            <a:endParaRPr lang="en-US" sz="2400" dirty="0"/>
          </a:p>
        </p:txBody>
      </p:sp>
      <p:pic>
        <p:nvPicPr>
          <p:cNvPr id="4" name="Image 0" descr="D:\BI10GroupYAPPERS\outputs\figures\deck_q2_gradi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440680" cy="3520440"/>
          </a:xfrm>
          <a:prstGeom prst="rect">
            <a:avLst/>
          </a:prstGeom>
        </p:spPr>
      </p:pic>
      <p:pic>
        <p:nvPicPr>
          <p:cNvPr id="5" name="Image 1" descr="D:\BI10GroupYAPPERS\outputs\figures\deck_q2_shif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554480"/>
            <a:ext cx="544068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71.6%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discretionary share in stressed months (FHS &lt; 40) vs 40.5% in healthy months (FHS ≥ 80)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9768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stressed-month value comes from purchases ≥ 10M VND — only 4.3% of transactions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+22pp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69264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travel's share gain; the mix stays inverted even without travel (37% vs 60% essential)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customers); category shift: transactions joined to consumer-months. Charts: notebooks/full_pipeline.ipynb.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EDA · Q3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High-spend provinces trail the national digital share by at most 0.46pp</a:t>
            </a:r>
            <a:endParaRPr lang="en-US" sz="2400" dirty="0"/>
          </a:p>
        </p:txBody>
      </p:sp>
      <p:pic>
        <p:nvPicPr>
          <p:cNvPr id="4" name="Image 0" descr="D:\BI10GroupYAPPERS\outputs\figures\deck_q3_g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0.46pp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digital gap among high-spend provinces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provinces qualify: Ha Noi, Dong Nai, Lam Dong, Hung Yen, Hai Phong, Nghe 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58.9–59.3% vs 58.8% nationally; QR at par; small gaps in e-commerce and app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differ 8.6pp within provinces vs 3.9pp across all 34 → target the customer, not the region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consumer_transactions_2025 (1,852,394 transactions).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EDA · Q4 &amp; Q5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is the everyday habit, groceries the biggest basket; age barely moves health</a:t>
            </a:r>
            <a:endParaRPr lang="en-US" sz="2400" dirty="0"/>
          </a:p>
        </p:txBody>
      </p:sp>
      <p:pic>
        <p:nvPicPr>
          <p:cNvPr id="4" name="Image 0" descr="D:\BI10GroupYAPPERS\outputs\figures\deck_q4_catego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440680" cy="3520440"/>
          </a:xfrm>
          <a:prstGeom prst="rect">
            <a:avLst/>
          </a:prstGeom>
        </p:spPr>
      </p:pic>
      <p:pic>
        <p:nvPicPr>
          <p:cNvPr id="5" name="Image 1" descr="D:\BI10GroupYAPPERS\outputs\figures\deck_q5_cohor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554480"/>
            <a:ext cx="544068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188,029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transport transactions — top by count, 1.59M VND ticket, 17 buys per buyer-month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9768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2.92M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ticket for in-store groceries — top by spend (513.8B), 1.8× the fuel ticket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65.8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69264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FHS: 25–34, still active (178.7 txns/month) with the highest spend-to-income 0.716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consumer_transactions_2025 (1,852,394 transactions); cohorts: consumer_financial_health_engagement_2025 (10,992 consumer-months, 999 customers). Charts: notebooks/full_pipeline.ipynb.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FINANCIAL HEALTH · D1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is stressed on average, yet 87% of customers dip below 60 at least once</a:t>
            </a:r>
            <a:endParaRPr lang="en-US" sz="2400" dirty="0"/>
          </a:p>
        </p:txBody>
      </p:sp>
      <p:pic>
        <p:nvPicPr>
          <p:cNvPr id="4" name="Image 0" descr="D:\BI10GroupYAPPERS\outputs\figures\deck_d1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fall below 60 in at least one month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averages: mean 66.3, IQR 63.4–69.3 — a tight band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are 2× more spread: 95 stressed months (0.9%) across 70 customers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+ December hold 46 of 95 stressed months → trigger help on the month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FINANCIAL HEALTH · D2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health is an overspending story: it breaks once spend passes income</a:t>
            </a:r>
            <a:endParaRPr lang="en-US" sz="2400" dirty="0"/>
          </a:p>
        </p:txBody>
      </p:sp>
      <p:pic>
        <p:nvPicPr>
          <p:cNvPr id="4" name="Image 0" descr="D:\BI10GroupYAPPERS\outputs\figures\deck_d2_thresho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440680" cy="3520440"/>
          </a:xfrm>
          <a:prstGeom prst="rect">
            <a:avLst/>
          </a:prstGeom>
        </p:spPr>
      </p:pic>
      <p:pic>
        <p:nvPicPr>
          <p:cNvPr id="5" name="Image 1" descr="D:\BI10GroupYAPPERS\outputs\figures\deck_d2_driv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554480"/>
            <a:ext cx="544068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−0.90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spend-to-income; with utilization (−0.86) it explains 82% of the health score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9768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stressed months spend more than income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69264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top-quintile months fall below 60 — none in the bottom two quintiles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customers); category mix: transactions joined to consumer-months. Charts: notebooks/full_pipeline.ipynb.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FINANCIAL HEALTH · D3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 and province gaps are really spending gaps; age is flat</a:t>
            </a:r>
            <a:endParaRPr lang="en-US" sz="2400" dirty="0"/>
          </a:p>
        </p:txBody>
      </p:sp>
      <p:pic>
        <p:nvPicPr>
          <p:cNvPr id="4" name="Image 0" descr="D:\BI10GroupYAPPERS\outputs\figures\deck_d3_spre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11091672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→ 1.3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points: occupation gap once spend-to-income is held constant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→ 1.6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points: province gap (Ha Noi 67.8 top, Thai Nguyen 63.0 bottom)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4672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across six age cohorts — not significant (p = 0.13)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 (customer level). Charts: notebooks/full_pipeline.ipynb.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FINANCIAL HEALTH · D4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active customers carry 52% of stress months — with big late-night purchases</a:t>
            </a:r>
            <a:endParaRPr lang="en-US" sz="2400" dirty="0"/>
          </a:p>
        </p:txBody>
      </p:sp>
      <p:pic>
        <p:nvPicPr>
          <p:cNvPr id="4" name="Image 0" descr="D:\BI10GroupYAPPERS\outputs\figures\deck_d4_laten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stress months belong to 43 highly engaged customers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FHS &lt; 40 AND engagement ≥ 81.4 (top 25% of months); stable at top 30% / 20%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Profile: spend 1.89× income, utilization 0.55, online share 2.3× average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 of stressed spend value lands at 22–23h (vs 8.3%) → opt-in alert before 22:00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customers); timing: transactions joined to consumer-months.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ENGAGEMENT · D1–D2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saturated; the whole low tail is 91 one-off customers</a:t>
            </a:r>
            <a:endParaRPr lang="en-US" sz="2400" dirty="0"/>
          </a:p>
        </p:txBody>
      </p:sp>
      <p:pic>
        <p:nvPicPr>
          <p:cNvPr id="4" name="Image 0" descr="D:\BI10GroupYAPPERS\outputs\figures\deck_t3_engage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440680" cy="3520440"/>
          </a:xfrm>
          <a:prstGeom prst="rect">
            <a:avLst/>
          </a:prstGeom>
        </p:spPr>
      </p:pic>
      <p:pic>
        <p:nvPicPr>
          <p:cNvPr id="5" name="Image 1" descr="D:\BI10GroupYAPPERS\outputs\figures\deck_t3_channe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554480"/>
            <a:ext cx="544068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are High or Very high (1.0 / 8.0 / 66.9 / 24.1% by band)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9768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seen on only 1–2 days are the entire below-High tail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21.0%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69264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online spend share; 925 of 999 customers use all five channels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customers); channels: consumer_transactions_2025 (1,852,394 transactions). Charts: notebooks/full_pipeline.ipynb.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ENGAGEMENT · D3–D4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and regular activity — not recency — separate engaged customers</a:t>
            </a:r>
            <a:endParaRPr lang="en-US" sz="2400" dirty="0"/>
          </a:p>
        </p:txBody>
      </p:sp>
      <p:pic>
        <p:nvPicPr>
          <p:cNvPr id="4" name="Image 0" descr="D:\BI10GroupYAPPERS\outputs\figures\deck_t3_divers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440680" cy="3520440"/>
          </a:xfrm>
          <a:prstGeom prst="rect">
            <a:avLst/>
          </a:prstGeom>
        </p:spPr>
      </p:pic>
      <p:pic>
        <p:nvPicPr>
          <p:cNvPr id="5" name="Image 1" descr="D:\BI10GroupYAPPERS\outputs\figures\deck_t3_heat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554480"/>
            <a:ext cx="544068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2–14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per month; r +0.81 with engagement even within full-year customers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9768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+0.80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days vs engagement — ahead of transaction count (+0.76) and recency (−0.58)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5230368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534009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55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692640" y="53218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whenever a customer is active on only 1–5 days, whatever the recency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customers). Charts: notebooks/full_pipeline.ipynb.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ENGAGEMENT · D5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healthy customers used their card on only 1–2 days all year</a:t>
            </a:r>
            <a:endParaRPr lang="en-US" sz="2400" dirty="0"/>
          </a:p>
        </p:txBody>
      </p:sp>
      <p:pic>
        <p:nvPicPr>
          <p:cNvPr id="4" name="Image 0" descr="D:\BI10GroupYAPPERS\outputs\figures\deck_t3_cuto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(2.5%): FHS ≥ 70 and engagement &lt; 70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cutoff sits in an empty gap: 25 at any engagement cutoff from 60 to 70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Profile: 2 vs 27 active days, 10 vs 159 transactions a month, 61% vs 24% online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silent since Jan–Jul → win back everyday use, not budgeting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SEGMENTATION ·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8 behavioural ratios yields four segments along three business axes</a:t>
            </a:r>
            <a:endParaRPr lang="en-US" sz="2400" dirty="0"/>
          </a:p>
        </p:txBody>
      </p:sp>
      <p:pic>
        <p:nvPicPr>
          <p:cNvPr id="4" name="Image 0" descr="D:\BI10GroupYAPPERS\outputs\figures\deck_t4_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on 8 scaled ratios, 999 customers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health, activity and spending-mix ratios; no raw VND, no demographics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 splits one-off users, k = 3 adds health, k = 4 adds activity; k ≥ 5 only subdivides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999 / 999 incl. 7 minors; dataset + dictionary in the ZIP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k-means (k = 4) on 8 scaled ratios, 999 customers.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SEGMENTATION · PROFILES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segments, four different jobs for the product team</a:t>
            </a:r>
            <a:endParaRPr lang="en-US" sz="2400" dirty="0"/>
          </a:p>
        </p:txBody>
      </p:sp>
      <p:pic>
        <p:nvPicPr>
          <p:cNvPr id="4" name="Image 0" descr="D:\BI10GroupYAPPERS\outputs\figures\deck_t4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22376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554480"/>
            <a:ext cx="3593592" cy="1033272"/>
          </a:xfrm>
          <a:prstGeom prst="roundRect">
            <a:avLst>
              <a:gd name="adj" fmla="val 708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&amp; Engaged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033272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 · 35.1%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9659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health, lowest spend/income → savings &amp; opt-in offers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2724912"/>
            <a:ext cx="3593592" cy="1033272"/>
          </a:xfrm>
          <a:prstGeom prst="roundRect">
            <a:avLst>
              <a:gd name="adj" fmla="val 708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27980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Stretched &amp; Engaged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7980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 · 30.2%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1363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Spend/income 0.84, 20% had a stress month → budgeting + alerts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895344"/>
            <a:ext cx="3593592" cy="1033272"/>
          </a:xfrm>
          <a:prstGeom prst="roundRect">
            <a:avLst>
              <a:gd name="adj" fmla="val 708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3968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High-Activity Users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39684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258 · 25.8%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306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251 transactions/month, most volatile → planning reminders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065776"/>
            <a:ext cx="3593592" cy="1033272"/>
          </a:xfrm>
          <a:prstGeom prst="roundRect">
            <a:avLst>
              <a:gd name="adj" fmla="val 708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5138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 Online-First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0" y="5138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· 8.8%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5477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~1 month, 67% online (≈ brief's Emerging Digital) → habit nudges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k-means (k = 4) on 8 scaled ratios, 999 customers. Charts: notebooks/full_pipeline.ipynb.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SEGMENTATION · 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are stable — and December hits every segment by ~13 points</a:t>
            </a:r>
            <a:endParaRPr lang="en-US" sz="2400" dirty="0"/>
          </a:p>
        </p:txBody>
      </p:sp>
      <p:pic>
        <p:nvPicPr>
          <p:cNvPr id="4" name="Image 0" descr="D:\BI10GroupYAPPERS\outputs\figures\deck_t4_decemb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across 20 random seeds (ARI, 1 = identical)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ARI 0.91; the three full-year segments form a continuum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cuts health 12.8–14.2 pts in every segment → reminders for everyone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Limits: synthetic folded data; 88 occasional users rest on ~1 month; never for lending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k-means (k = 4) on 8 scaled ratios, 999 customers.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·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non-punitive tools, each tied to a measured finding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606040"/>
                <a:gridCol w="2606040"/>
                <a:gridCol w="2468880"/>
                <a:gridCol w="1627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(n, % of 999)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Budgeting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Stretched &amp; Engaged · 302 (30.2%)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spend/income 0.84; r −0.90 with FHS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Spend-vs-income view, self-set budget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spend/income; stress 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Spend alerts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Crossover · 43 (4.3%)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 of stress months; late-night spend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Opt-in pacing alert before 22:00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 months / customer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Planning reminders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High-Activity · 258 (25.8%)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volatility 1.91; December −13 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plan sent in November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 drop vs holdout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 Education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health &amp; engagement · 67 (6.7%)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 discretionary vs 55%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Needs-vs-wants micro-modules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essential share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 Digital nudges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Occasional Online-First · 88 (8.8%)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active days; 60.6% via app/e-com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Habit nudges in their 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⑥ Product suggestions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&amp; Engaged · 351 (35.1%), adults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utilization 0.15; FHS 70.5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Opt-in savings/loyalty, no credit increase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opt-in uptake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① ③ ⑤ ⑥ cover all 999 customers. Overlays: alerts 43 = 39 Stretched + 4 Healthy; education 67 = 64 Occasional + 3 Stretched (sequenced, never in the same week).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k-means (k = 4) on 8 scaled ratios, 999 customers; consumer_financial_health_engagement_2025 (10,992 consumer-months, 999 customers); consumer_transactions_2025 (1,852,394 transactions). Charts: notebooks/full_pipeline.ipynb.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· PRIORITISATION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Budgeting leads on reach × driver strength; alerts launch first for precision</a:t>
            </a:r>
            <a:endParaRPr lang="en-US" sz="2400" dirty="0"/>
          </a:p>
        </p:txBody>
      </p:sp>
      <p:pic>
        <p:nvPicPr>
          <p:cNvPr id="4" name="Image 0" descr="D:\BI10GroupYAPPERS\outputs\figures\deck_t5_prio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3246120"/>
          </a:xfrm>
          <a:prstGeom prst="roundRect">
            <a:avLst>
              <a:gd name="adj" fmla="val 28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score of the budgeting tool (302 × 0.90)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reach × |r| of the trigger with its outcome; wellbeing before growth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reach only 43 customers but 71% of stress months → wave 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Fairness: behaviour-only triggers; uptake tracked by age &amp; gender; no offers to minors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customers); team k-means (k = 4) on 8 scaled ratios, 999 customers.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275320" y="4983480"/>
            <a:ext cx="3364992" cy="1143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54681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financial_health_score → deny credit, cut a limit, raise a rate or block an account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·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10% spend trim could cut stress months by 28–32%, tested within 90 days</a:t>
            </a:r>
            <a:endParaRPr lang="en-US" sz="2400" dirty="0"/>
          </a:p>
        </p:txBody>
      </p:sp>
      <p:pic>
        <p:nvPicPr>
          <p:cNvPr id="4" name="Image 0" descr="D:\BI10GroupYAPPERS\outputs\figures\deck_t5_scena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4980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64992" cy="4526280"/>
          </a:xfrm>
          <a:prstGeom prst="roundRect">
            <a:avLst>
              <a:gd name="adj" fmla="val 271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−28–32%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months if the Stretched 302 trim spend-to-income by 10%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00400"/>
            <a:ext cx="29535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on FHS = 84.1 − 25.3 × spend/income; part of the gain is mechanical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0–30 d budgeting + alerts · 31–60 d November reminders + nudges · 61–90 d education + products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vs a random 10% holdout for 3 months; scale only what wins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consumer_financial_health_engagement_2025 (10,992 consumer-months, 999 customers). Charts: notebooks/full_pipeline.ipynb.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stretched, plan with the active, re-engage the occasional, grow the healthy — without ever touching their credit.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13345E"/>
          </a:solidFill>
          <a:ln w="12700">
            <a:solidFill>
              <a:srgbClr val="1334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Overspending drives poor health (r −0.90); under stress 71.6% of spend is discretionary, and stress peaks in December.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1688" y="30632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13345E"/>
          </a:solidFill>
          <a:ln w="12700">
            <a:solidFill>
              <a:srgbClr val="1334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6008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stable segments cover all 999 customers; 43 active customers hold 52% of stress months.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1856" y="30632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13345E"/>
          </a:solidFill>
          <a:ln w="12700">
            <a:solidFill>
              <a:srgbClr val="1334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Budgeting for 302 and opt-in evening alerts first, each measured against a random holdout within 90 days.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limits: synthetic data (two source years folded onto 2025), 91 customers seen only once, segments on a continuum — sizes are directional; conclusions rest on ratios.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guarantee: wellbeing help, never a credit decision.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ITB Consumer Wellbeing &amp; Segmentation — Group YAPPERS</dc:title>
  <dc:subject>PptxGenJS Presentation</dc:subject>
  <dc:creator>PptxGenJS</dc:creator>
  <cp:lastModifiedBy>PptxGenJS</cp:lastModifiedBy>
  <cp:revision>1</cp:revision>
  <dcterms:created xsi:type="dcterms:W3CDTF">2026-09-27T13:41:29Z</dcterms:created>
  <dcterms:modified xsi:type="dcterms:W3CDTF">2026-09-27T13:41:29Z</dcterms:modified>
</cp:coreProperties>
</file>