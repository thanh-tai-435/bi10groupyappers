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wellbeing frame from second one — customer understanding, never credit scoring.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judge reads only this slide, they get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arc — EDA and segmentation carry the most weight.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rules govern the deck: ratios over magnitudes, wellbeing over credit. Data quality is clean except the documented synthetic caveats.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Peaks are a frequency phenomenon across every category — the lever is trip frequency, not upsell.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slide — the gradient proves the inversion is real, not an artefact of the 40/80 cutoffs.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Q3 asked for the channel breakdown — every hub has the national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Q4 and Q5 exactly as asked, then show the honest limit (CI overlap).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is chronically unhealthy — trigger on the month, not the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ratios are the whole game — the quintile chart makes r = −0.90 tangible.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 3 — the one demographic gap is really a spending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than half of every stress episode happens to someone we can reach in-app — and we know when.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Histogram for a continuous score, bar for ordered segments (a pie would hide the 1% tail), bar for nominal channels.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Scatter for two continuous variables; heatmap for the recency × frequency interaction.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numbers answer 'why this cutoff and not a stricter or looser one'.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Preprocessed dataset + data dictionary are in the ZIP (task4_features.csv, data_dictionary_task4.md).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heatmap is the side-by-side comparison the brief asks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Stable enough to act on; the Nov→Dec slide is the timing evidence for planning reminders.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 per required type, each with exact size, %, the column it rests on, and a KPI.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is the deck's contract — a low score triggers help offered, never access removed.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is a hypothesis we will measure, not a promise.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ITB CONSUMER WELLBEING &amp; SEGMENTATION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non-punitive plan built on spending behaviour, not credit risk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0233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999 consumers · 1.85M transactions — and one finding that reframes everything.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9FB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 ·  BI10 Round 01  ·  September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inversion drives the whole story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Overspend, not low income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82880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spend-to-income (r −0.90) and credit-utilization (r −0.86) explain almost all of financial health.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614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budget inverts under stress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480560" y="2761488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customers spend 71.6% discretionary vs healthy customers' 40.5% — the strongest signal in the data.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69417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is episodic &amp; hits the engaged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3694176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chronically stressed; the crossover = 43 consumers = 52% of ALL stress episodes; 72% of Healthy→Stretched slides happen Nov→Dec.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stable segments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4626864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(k=4), 999/999 covered — sizes 351 / 302 / 258 / 88; stable across seeds (ARI 0.99).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595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6-tool wellbeing plan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5559552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(302) + Spend Alerts (43, Sun–Mon evenings); a 10% spend trim cuts stress months ~32%. FHS never denies, cuts, or blocks credit.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Case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Exploratory Data Analysis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Financial Health Analysis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0" y="19202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60920" y="19202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Customer Engagement Analysis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0" y="32918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60920" y="32918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Customer Segmentation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0" y="4663440"/>
            <a:ext cx="777240" cy="777240"/>
          </a:xfrm>
          <a:prstGeom prst="roundRect">
            <a:avLst>
              <a:gd name="adj" fmla="val 49412"/>
            </a:avLst>
          </a:prstGeom>
          <a:solidFill>
            <a:srgbClr val="EAF3F4"/>
          </a:solidFill>
          <a:ln w="1905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663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58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7360920" y="46634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— Recommendations &amp; Impact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case: understand wellbeing, not score credit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ITB, a Vietnamese consumer-finance company, wants to understand customer wellbeing, spending and engagement — customer understanding &amp; segmentation, NOT credit-risk decisions.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ratios and shares, never absolute VND: synthetic income / credit / balance magnitudes are inflated.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Distress analysed at consumer-MONTH grain (it is episodic); "what kind of customer" at consumer level.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Process: data-quality checks → EDA → financial health → engagement → segmentation → recommendations. Every number reproduces in notebooks/full_pipeline.ipynb.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4846320"/>
            <a:ext cx="5760720" cy="1097280"/>
          </a:xfrm>
          <a:prstGeom prst="roundRect">
            <a:avLst>
              <a:gd name="adj" fmla="val 6667"/>
            </a:avLst>
          </a:prstGeom>
          <a:solidFill>
            <a:srgbClr val="1243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919472"/>
            <a:ext cx="5394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rule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financial_health_score is a wellbeing measure — never used to deny credit, cut a limit, raise a rate, or block an account.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999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90688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90688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1.85M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90688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34856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34856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134856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479024" y="1554480"/>
            <a:ext cx="1234440" cy="960120"/>
          </a:xfrm>
          <a:prstGeom prst="roundRect">
            <a:avLst>
              <a:gd name="adj" fmla="val 7619"/>
            </a:avLst>
          </a:prstGeom>
          <a:solidFill>
            <a:srgbClr val="EA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479024" y="1609344"/>
            <a:ext cx="1234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0479024" y="210312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46520" y="2697480"/>
            <a:ext cx="530352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240">
            <a:solidFill>
              <a:srgbClr val="1FC3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29400" y="2788920"/>
            <a:ext cx="4983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Data-quality checks — both files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missing cells · 0 duplicate transaction IDs · 0 duplicate consumer-months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0 negative amounts · every timestamp inside 2025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 name + birth date per consumer; 1 name per merchant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Transactions reconcile 100% to monthly total_spend (10,992 / 10,992)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10,992 of 11,988 possible consumer-months present (1–12 each)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 over-limit months (utilization 1.03–1.5, all FHS &lt; 35) kept as real behaviour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Caveat (case §12): two source years folded onto 2025 → volumes inflated; ratios are the signal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December is the spending engine — and it runs on frequency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December = 488.0B VND = 15.04% of the 3.24T annual spend. Trough: February = 174.4B VND = 5.37% → December is 2.8× February.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Decomposition: transaction count +187% peak vs trough, while the average ticket falls 2.6% (1.74M vs 1.79M VND).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uplift is uniform — all 14 categories grow +181% to +193%; no single category drives it.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Behaviour: customers buy more often, not pricier (year-end / Tết preparation) → scale capacity, fraud monitoring and campaigns to volume, not basket size.</a:t>
            </a:r>
            <a:endParaRPr lang="en-US" sz="1300" dirty="0"/>
          </a:p>
        </p:txBody>
      </p:sp>
      <p:pic>
        <p:nvPicPr>
          <p:cNvPr id="5" name="Image 0" descr="D:\BI10GroupYAPPERS\outputs\figures\t1_monthly_sp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Case note §12: two source years folded onto 2025 inflate monthly volume — treat 15% as directional.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Q2 — THE SPINE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stress flips the budget: essential → discretionary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Stressed months (FHS &lt; 40; 95 consumer-months, 70 consumers): 28.4% essential / 71.6% discretionary. Healthy months (FHS ≥ 80; 475 months, 303 consumers): 59.5% / 40.5%.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gradient, not a threshold artefact: discretionary share 71.6% → 64.2% → 57.3% → 54.4% → 49.2% → 40.6% across FHS bands; every cutoff pair keeps the direction (FHS &lt; 35 vs ≥ 85: 73.5% vs 30.2%).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re-allocates the budget toward wants, not needs → the non-punitive lever is discretionary-spend visibility, not credit restriction. This anchors Tasks 4–5.</a:t>
            </a:r>
            <a:endParaRPr lang="en-US" sz="1250" dirty="0"/>
          </a:p>
        </p:txBody>
      </p:sp>
      <p:pic>
        <p:nvPicPr>
          <p:cNvPr id="5" name="Image 0" descr="D:\BI10GroupYAPPERS\outputs\figures\t1_essential_discretion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discretionary_gradie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regional digital divide: high-spend provinces mirror the nation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provinces with above-median spend but below-average digital share: Ha Noi, Dong Nai, Lam Dong, Hung Yen, Hai Phong.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breakdown (share of transactions): POS 58.9–59.3% vs 58.8% nationally · QR ~19.8–20.1% · E-commerce ~8.5% · Mobile ~7.5% · Recurring ~5%.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 gap: −0.46pp (Dong Nai); digital share of value 40.9–41.5% vs 41.5% nationally.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performers: HCMC leads spend (13.6% of the national total) at 41.3% digital; highest digital share Cao Bang 43.1% (0.5% of spend), lowest Quang Ngai 39.2% — all 34 provinces sit within 3.9pp.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statistically real but commercially negligible → province is not a lever for digital adoption; behaviour is.</a:t>
            </a:r>
            <a:endParaRPr lang="en-US" sz="1300" dirty="0"/>
          </a:p>
        </p:txBody>
      </p:sp>
      <p:pic>
        <p:nvPicPr>
          <p:cNvPr id="5" name="Image 0" descr="D:\BI10GroupYAPPERS\outputs\figures\t1_province_chann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0.46pp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digital-share gap vs national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· EDA · Q4 &amp; Q5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Categories: habit vs basket. Age: active 25–34 is weakest — barely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— top by COUNT: Fuel &amp; Transport, 188,029 transactions, avg ticket 1.59M VND (bought by 96.8% of consumers, 17.3 times per buyer-month). Top by SPEND: in-store Groceries, 513.8B VND, avg ticket 2.92M VND (1.8×) — frequent top-ups vs stock-up baskets.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— 25–34 is active (178.7 transactions/month, above the cohort median 177.8) with the lowest FHS 65.8 (best 67.0). Drivers: highest spend-to-income 0.716 (national 0.700) with a below-average essential ratio 0.468 (national 0.481) → overspend on wants.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bootstrap 95% CIs of all six cohorts overlap (65.8–67.0): age is a weak differentiator — target the ratios, not birth year.</a:t>
            </a:r>
            <a:endParaRPr lang="en-US" sz="1250" dirty="0"/>
          </a:p>
        </p:txBody>
      </p:sp>
      <p:pic>
        <p:nvPicPr>
          <p:cNvPr id="5" name="Image 0" descr="D:\BI10GroupYAPPERS\outputs\figures\t1_category_tick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1_age_coho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consumer_transactions_2025 — 1,852,394 transactions, 2025. Age cohorts: consumer-month file.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is a tight band; distress is episodic, never chronic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level (n = 999): mean 66.3, median 66.2, std 4.7, IQR 63.4–69.3, range 42.3–80.8, skew −0.32 (mild low tail).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level (n = 10,992): std 9.5 — twice the consumer spread. Segments: Stable 72.5% · Watch 22.4% · Healthy 4.3% · Stressed 0.9%.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of 999 consumers have a 12-month mean below 40 — stress is episodic: healthy people dip in specific months (Feb 73.6 → Dec 54.2).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Implication: trigger help on the current month, not on a static risk list.</a:t>
            </a:r>
            <a:endParaRPr lang="en-US" sz="1300" dirty="0"/>
          </a:p>
        </p:txBody>
      </p:sp>
      <p:pic>
        <p:nvPicPr>
          <p:cNvPr id="5" name="Image 0" descr="D:\BI10GroupYAPPERS\outputs\figures\t2_fhs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health is an overspend story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correlates with FHS (month grain, n = 10,992): spend-to-income −0.90, credit-utilization −0.86, volatility −0.50. Stressed vs healthy months: spend/income 2.10 vs 0.29; utilization 0.58 vs 0.08.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mean FHS 72.4 → 68.4 → 66.0 → 63.8 → 60.9 across spend-to-income quintiles (−11.4 pts, ~10× the age spread).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Counter-intuitive: stressed months are MORE engaged (81.1 vs 72.7). FHS and ratios share spend fields — directional, not causal.</a:t>
            </a:r>
            <a:endParaRPr lang="en-US" sz="1250" dirty="0"/>
          </a:p>
        </p:txBody>
      </p:sp>
      <p:pic>
        <p:nvPicPr>
          <p:cNvPr id="5" name="Image 0" descr="D:\BI10GroupYAPPERS\outputs\figures\t2_low_health_driv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sti_quintil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differs? Province and age barely; occupation through spending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Province: 22 of 27 provinces (≥ 15 consumers) have a 95% CI containing the national mean 66.3 (extremes Thai Nguyen 63.0, HCMC 67.6). Age: all six cohort CIs overlap (65.8–67.0).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 (396 raw titles → 8 keyword groups): Engineering/science/IT 69.1 (n = 229), Business/finance 68.7 (126) vs Office/public 64.5 (443), Manual/trades 62.9 (23) — a ~6-pt spread that mirrors spend-to-income (0.60 vs 0.76–0.79).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act through the overspend ratio → target the ratio, never the group (fairness).</a:t>
            </a:r>
            <a:endParaRPr lang="en-US" sz="1250" dirty="0"/>
          </a:p>
        </p:txBody>
      </p:sp>
      <p:pic>
        <p:nvPicPr>
          <p:cNvPr id="5" name="Image 0" descr="D:\BI10GroupYAPPERS\outputs\figures\t2_demograph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26080"/>
            <a:ext cx="11247120" cy="3154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· FINANCIAL HEALTH · 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"Stressed but Engaged" crossover — and when to reach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rule (consumer-month): financial_health_score &lt; 40 AND engagement_score ≥ p75 (81.4) → 43 consumers / 49 months = 52% of ALL stress episodes. Robust: p70 / p80 give 44 / 41 consumers (53% / 48%).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spend/income 1.89, credit-utilization 0.55, online share 0.49 (2× national) — active, digital, over-extended.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(transactions): stressed months put 23.5% of spend value into 22–23h vs 8.3% (bigger late tickets, not more: count 11.6% vs 9.7%); Sunday + Monday = 42% vs 34% → alerts Sun–Mon evenings, before 22:00.</a:t>
            </a:r>
            <a:endParaRPr lang="en-US" sz="1250" dirty="0"/>
          </a:p>
        </p:txBody>
      </p:sp>
      <p:pic>
        <p:nvPicPr>
          <p:cNvPr id="5" name="Image 0" descr="D:\BI10GroupYAPPERS\outputs\figures\t2_cross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2_tim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Timing: Source: transactions file joined to the consumer-month file on consumer_id + month.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D1–D2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Engagement is saturated; channels are POS-first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D1: engagement_score mean 77.8, median 78.1, IQR 74.8–81.4 (consumer-month). Consumers by segment: Low 1.0% (10) · Medium 8.0% (80) · High 74.1% (740) · Very high 16.9% (169) → the score alone does not segment the base.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D2: POS 58.8% · QR 19.8% · E-commerce 8.7% · Mobile App 7.7% · Recurring 4.9% of 1.85M transactions; non-POS = 41% of trips and 41.5% of value. Average online spend share 24.7% per consumer (range 0–95%).</a:t>
            </a:r>
            <a:endParaRPr lang="en-US" sz="1250" dirty="0"/>
          </a:p>
        </p:txBody>
      </p:sp>
      <p:pic>
        <p:nvPicPr>
          <p:cNvPr id="5" name="Image 0" descr="D:\BI10GroupYAPPERS\outputs\figures\t3_engagement_d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971800"/>
            <a:ext cx="4343400" cy="3108960"/>
          </a:xfrm>
          <a:prstGeom prst="rect">
            <a:avLst/>
          </a:prstGeom>
        </p:spPr>
      </p:pic>
      <p:pic>
        <p:nvPicPr>
          <p:cNvPr id="6" name="Image 1" descr="D:\BI10GroupYAPPERS\outputs\figures\t3_segment_sha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2971800"/>
            <a:ext cx="3063240" cy="3108960"/>
          </a:xfrm>
          <a:prstGeom prst="rect">
            <a:avLst/>
          </a:prstGeom>
        </p:spPr>
      </p:pic>
      <p:pic>
        <p:nvPicPr>
          <p:cNvPr id="7" name="Image 2" descr="D:\BI10GroupYAPPERS\outputs\figures\t3_channel_mi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8160" y="2971800"/>
            <a:ext cx="3566160" cy="31089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7200" y="61447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 Channels: Source: consumer_transactions_2025 — 1,852,394 transactions, 2025.</a:t>
            </a:r>
            <a:endParaRPr lang="en-US" sz="85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D3–D4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discriminates: diversity &amp; consistency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— category diversity ranges 2–14 (consumer mean 12.9; 908 of 999 at 13–14). r = +0.94 with engagement; still +0.81 without the dormant tail (Spearman +0.85) — not a tail artefact.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— recency 0–30 days (median 0); active days 1–31 (median 30); transactions 2–713 per month (median 150). Links to engagement: active days r +0.59 &gt; recency −0.42 &gt; count +0.40.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Heatmap: 30–31 active days &amp; recency 0 → engagement 79.8 (n = 6,614); every 1–5-active-day cell stays ≤ 55 → consistency beats recency and volume.</a:t>
            </a:r>
            <a:endParaRPr lang="en-US" sz="1250" dirty="0"/>
          </a:p>
        </p:txBody>
      </p:sp>
      <p:pic>
        <p:nvPicPr>
          <p:cNvPr id="5" name="Image 0" descr="D:\BI10GroupYAPPERS\outputs\figures\t3_diversity_vs_engage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3_recency_frequenc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· ENGAGEMENT · D5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High-health, low-engagement: 25 good customers drifting away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Cutoff: FHS ≥ 70 (≈ p79, top 21% of consumers) AND engagement &lt; 70 (below p10 = 71.1) → 25 consumers (2.5%).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stricter / looser: the count stays 25 at engagement &lt; 60, 65, 68, 70 (a natural gap), then jumps to 36 (&lt; 72), 52 (&lt; 74), 63 (&lt; 75) as it reaches the main body. FHS ≥ 65 gives 48; ≥ 75 gives 9.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vs rest: FHS 74.0 vs 66.1 · engagement 46.8 vs 76.1 · 9.9 vs 159 transactions/month · 2.0 vs 27.0 active days · recency 14.3 vs 0.9 days · diversity 4.7 vs 13.1 · online 0.61 vs 0.24.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of 25 sit in Emerging Digital → play = reactivation of everyday use, not budgeting.</a:t>
            </a:r>
            <a:endParaRPr lang="en-US" sz="1200" dirty="0"/>
          </a:p>
        </p:txBody>
      </p:sp>
      <p:pic>
        <p:nvPicPr>
          <p:cNvPr id="5" name="Image 0" descr="D:\BI10GroupYAPPERS\outputs\figures\t3_health_vs_engagement_quadr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consumer_financial_health_engagement_2025 — 10,992 consumer-months, 999 consumers, 2025.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n = 25, synthetic-inflated engagement — a cohort to watch, not a sized forecast.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Preprocessing, features and model choice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10,992 consumer-months → 999 consumers (yearly mean of each ratio = typical monthly profile); 0 nulls after aggregation; raw VND excluded. The preprocessed dataset (task4_features.csv) and its data dictionary are in the submission ZIP.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features, z-scaled: health (FHS, spend-to-income, credit-utilization, volatility) · engagement (engagement score, transaction count) · spending (discretionary, online ratio).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with reason: essential ratio (= 1 − discretionary), diversity / active days / recency (p75 = max, near-constant); demographics kept for profiling only.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over a pure 2×2: boundaries form across all 8 dimensions. k = 4 via elbow + best silhouette in the 4–6 range (0.251; k = 2 wins at 0.557 but collapses the personas). Coverage 999 / 999, 7 minors kept.</a:t>
            </a:r>
            <a:endParaRPr lang="en-US" sz="1200" dirty="0"/>
          </a:p>
        </p:txBody>
      </p:sp>
      <p:pic>
        <p:nvPicPr>
          <p:cNvPr id="5" name="Image 0" descr="D:\BI10GroupYAPPERS\outputs\figures\t4_silhouet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PROFILES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segments, side by side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17320"/>
            <a:ext cx="1124712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Healthy &amp; Highly Engaged — 351 (35.1%): FHS 70.5, lowest spend/income 0.571 &amp; utilization 0.148 → retain &amp; grow value.  ·  Stretched but Highly Engaged — 302 (30.2%): FHS 62.6, highest spend/income 0.835 &amp; utilization 0.248, still engaged 76.5 → wellbeing priority.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Power Users — 258 (25.8%): 251 transactions/month (1.6× avg), highest volatility 1.91 &amp; engagement 80.2 → monetise, monitor drift.  ·  Low Engagement &amp; Emerging Digital — 88 (8.8%): 9.7 transactions/month, engagement 49.6, but 67.1% online &amp; 86.6% discretionary → activate.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personas not formed: Essential-Spend-Focused = only 4 consumers; Healthy-but-Disengaged = 25, 24 of them inside Emerging Digital.</a:t>
            </a:r>
            <a:endParaRPr lang="en-US" sz="1250" dirty="0"/>
          </a:p>
        </p:txBody>
      </p:sp>
      <p:pic>
        <p:nvPicPr>
          <p:cNvPr id="5" name="Image 0" descr="D:\BI10GroupYAPPERS\outputs\figures\t4_segment_siz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3017520"/>
            <a:ext cx="5440680" cy="3063240"/>
          </a:xfrm>
          <a:prstGeom prst="rect">
            <a:avLst/>
          </a:prstGeom>
        </p:spPr>
      </p:pic>
      <p:pic>
        <p:nvPicPr>
          <p:cNvPr id="6" name="Image 1" descr="D:\BI10GroupYAPPERS\outputs\figures\t4_segment_profil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3017520"/>
            <a:ext cx="5440680" cy="3063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144768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· SEGMENTATION · VALIDATION &amp; LIMITS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 segments, a December slide — and honest limits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585216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Stability: 20 random seeds → ARI 0.988; 80% bootstrap × 50 → ARI 0.911. Alternative GMM: ARI 0.26 — Emerging Digital identical, the three large segments form one continuum (hence silhouette 0.251).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cross-check (2×2 median split of health × engagement): 344 of 351 Healthy and 273 of 302 Stretched customers fall in the matching halves.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migration: a Healthy month is followed by a Stretched month 23% of the time — 72% from November to December.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check: segments correlate with age &amp; gender (chi-square p &lt; 0.01) though not inputs → trigger every tool on behaviour, never on demographics.</a:t>
            </a:r>
            <a:endParaRPr lang="en-US" sz="1200" dirty="0"/>
          </a:p>
        </p:txBody>
      </p:sp>
      <p:pic>
        <p:nvPicPr>
          <p:cNvPr id="5" name="Image 0" descr="D:\BI10GroupYAPPERS\outputs\figures\t4_pc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463040"/>
            <a:ext cx="5303520" cy="269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41605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PCA = 73% of variance.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2179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Technical: moderate silhouette; yearly means hide within-year trajectory; feature choice is a judgement call.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Data: synthetic, two source years folded onto 2025; engagement engineered high; Emerging Digital (n = 88) least robust.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Operational: segments are wellbeing groups, not risk tiers — never for lending.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4480560"/>
            <a:ext cx="5532120" cy="1874520"/>
          </a:xfrm>
          <a:prstGeom prst="roundRect">
            <a:avLst>
              <a:gd name="adj" fmla="val 2927"/>
            </a:avLst>
          </a:prstGeom>
          <a:solidFill>
            <a:srgbClr val="EAF3F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382512" y="4553712"/>
            <a:ext cx="5212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Refit on multi-year real data; track segment migration monthly.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Trajectory features (FHS slope, volatility trend) + GMM soft membership for boundary customers.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Chronological model for next_month_low_health_flag (train Jan–Aug, test Nov) as an early-warning — support only.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non-punitive tools, each tied to a data finding</a:t>
            </a:r>
            <a:endParaRPr lang="en-US" sz="27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331720"/>
                <a:gridCol w="2926080"/>
                <a:gridCol w="27432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group (n, % of 999)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435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① Budgeting tool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Stretched &amp; Engaged: 302 (30.2%)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spend_to_income r −0.90; segment spend/income 0.835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In-app spend-vs-income dashboard, discretionary category view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spend/income; % months FHS &lt; 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② Spend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Crossover: 43 (4.3%) = 52% of stress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FHS &lt; 40 &amp; engagement ≥ p75; 23.5% of spend at 22–23h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Pacing alert Sun–Mon evenings, before 22:00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stress months / consumer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③ Planning reminders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Users 258 (25.8%) + Healthy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→ Stretched 72% Nov → Dec; volatility r −0.50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November year-end budget plan &amp; reminder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→ Dec slide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④ Financial education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Distress tail: 67 (6.7%)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discretionary 72% vs 40% under stress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Needs-vs-wants micro-modules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essential share next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⑤ Digital nudges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Emerging Digital: 88 (8.8%)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diversity r +0.94; 60.5% of spend via E-com + Mobile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&amp; habit loops in the app they already use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days; categories / month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⑥ Product suggestions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Healthy &amp; Engaged: 351 (35.1%)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utilization 0.148, FHS 70.5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savings / loyalty; never auto-extend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opt-in uptake; FHS stable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62356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 Crossover &amp; distress tail: consumer-month file; channel share: transactions file.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double-counting: the 4 segments partition all 999 consumers; the crossover (43) and distress tail (67) are overlays inside the Stretched segment.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RECOMMENDATIONS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Prioritization — and the credit-decision rule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by reach × driver strength: ① Budgeting (302, |r| 0.90) → ② Alerts (43, 52% of stress) → ③ Reminders (258) → ⑥ Products (351) → ⑤ Nudges (88) → ④ Education (67).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Budgeting + Alerts (the wellbeing mission); layer growth tools on top.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by design: every trigger is a behavioural ratio; segments correlate with age / gender, so we never target by demographics.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financial_health_score is never used to deny credit, cut a credit limit, raise a rate or block an account — a low score only triggers help that is offered.</a:t>
            </a:r>
            <a:endParaRPr lang="en-US" sz="1300" dirty="0"/>
          </a:p>
        </p:txBody>
      </p:sp>
      <p:pic>
        <p:nvPicPr>
          <p:cNvPr id="5" name="Image 0" descr="D:\BI10GroupYAPPERS\outputs\figures\t5_priority_ra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k-means (k=4) on 8 z-scaled ratios, 999 consumers (task4_features.csv).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FHS → credit decision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58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5 · IMPACT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11247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1243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impact, measurement &amp; a 90-day roadmap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54480"/>
            <a:ext cx="576072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(illustrative): FHS = 84.1 − 25.3 × spend-to-income (r −0.90). A 5% trim for the Stretched 302 → stress months 95 → 80 (−16%); 10% → 65 (−32%); 15% → 49.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Measurement: every tool gets one KPI and a randomised holdout (e.g. Budgeting: 10% holdout for 3 months).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B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0–30: Budgeting + Alerts · 31–60: November Reminders + Digital Nudges · 61–90: Education + opt-in Products; keep what moves the KPI.</a:t>
            </a:r>
            <a:endParaRPr lang="en-US" sz="1300" dirty="0"/>
          </a:p>
        </p:txBody>
      </p:sp>
      <p:pic>
        <p:nvPicPr>
          <p:cNvPr id="5" name="Image 0" descr="D:\BI10GroupYAPPERS\outputs\figures\t5_impact_scena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554480"/>
            <a:ext cx="530352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46520" y="562356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team scenario on the consumer-month file (10,992 months).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5897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FHS embeds spend fields — the slope is mechanical; a scenario to test, not a forecast.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507492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12435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7200" y="5148072"/>
            <a:ext cx="3383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C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−32%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5769864"/>
            <a:ext cx="33832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months at a 10% trim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YAPPERS · BI10 Round 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71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C3A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contract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 the healthy, activate the dormant, protect the stretched —</a:t>
            </a:r>
            <a:endParaRPr lang="en-US" sz="2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ever touching their credit.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30632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Overspend drives poor health; the budget inverts under stress; stress is episodic, striking the most engaged.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9624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849624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clean segments (351/302/258/88) and a 6-tool plan reaching every customer with the right non-punitive touch.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63600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action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463600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for 302 + real-time Alerts catching 52% of all stress — highest reach × strongest driver, near-zero cost.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422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54223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C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with two source years folded onto 2025, engineered engagement, segments on a continuum — sizes directional, conclusions robust on ratios.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FC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guarantee: wellbeing help, never a credit decision.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2026-09-27T11:08:44Z</dcterms:created>
  <dcterms:modified xsi:type="dcterms:W3CDTF">2026-09-27T11:08:44Z</dcterms:modified>
</cp:coreProperties>
</file>