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the wellbeing frame from second one — customer understanding, never credit scoring.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 judge reads only this slide, they get the whole 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the arc — EDA and segmentation carry the most weight.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Plant the two rules: ratios over magnitudes, wellbeing over credit.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Peaks are a frequency phenomenon — the lever is trip frequency, not upsell.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— every later decision traces back to this inversion.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honest negatives (geography, age) + one behavioural positive.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Nobody is chronically unhealthy — trigger on the month, not the person.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ratios are the whole game — and the stressed are active, not disengaged.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More than half of every stress episode happens to someone we can text right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Don't segment on the engagement score — it's a ceiling. Segment on behaviours underneath.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Build the early-warning flag on category diversity.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low-engagement tails, opposite remedies — don't merge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Moderate silhouette is expected for a behavioural continuum; the 2×2 validates the poles.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Segment 2 turns Task 1's 25–34 vulnerability into an addressable 302-person group.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tool per required type, each bound to an exact size and a real ratio.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rule is the deck's contract — a low score triggers help offered, never access removed.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contract.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C3A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82880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ITB CONSUMER WELLBEING &amp; SEGMENTATION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0632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FC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non-punitive plan built on spending behaviour, not credit risk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02336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CF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999 consumers · 1.85M transactions — and one finding that reframes everything.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9FB6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YAPPERS  ·  BI10 Round 01  ·  September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FC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inversion drives the whole story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C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Overspend, not low income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4480560" y="1828800"/>
            <a:ext cx="7132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DCEA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spend-to-income (r −0.90) and credit-utilization (r −0.86) explain almost all of financial health.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761488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C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budget inverts under stress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480560" y="2761488"/>
            <a:ext cx="7132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DCEA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stressed customers spend 71.6% discretionary vs healthy customers' 40.5% — the strongest signal in the data.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694176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C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Stress is episodic &amp; hits the engaged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480560" y="3694176"/>
            <a:ext cx="7132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DCEA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of 999 chronically stressed; the crossover = 43 consumers = 52% of ALL stress episodes.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626864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C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actionable segments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480560" y="4626864"/>
            <a:ext cx="7132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DCEA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 (k=4), 999/999 covered — sizes 351 / 302 / 258 / 88.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5559552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C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6-tool wellbeing plan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480560" y="5559552"/>
            <a:ext cx="7132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DCEA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with Budgeting (302) + in-app Spend Alerts (43); FHS never denies, cuts, or blocks credit.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58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11247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700" b="1" dirty="0">
                <a:solidFill>
                  <a:srgbClr val="1243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deck covers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777240" cy="777240"/>
          </a:xfrm>
          <a:prstGeom prst="roundRect">
            <a:avLst>
              <a:gd name="adj" fmla="val 49412"/>
            </a:avLst>
          </a:prstGeom>
          <a:solidFill>
            <a:srgbClr val="EAF3F4"/>
          </a:solidFill>
          <a:ln w="19050">
            <a:solidFill>
              <a:srgbClr val="1FC3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9202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58B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600200" y="192024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the Case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291840"/>
            <a:ext cx="777240" cy="777240"/>
          </a:xfrm>
          <a:prstGeom prst="roundRect">
            <a:avLst>
              <a:gd name="adj" fmla="val 49412"/>
            </a:avLst>
          </a:prstGeom>
          <a:solidFill>
            <a:srgbClr val="EAF3F4"/>
          </a:solidFill>
          <a:ln w="19050">
            <a:solidFill>
              <a:srgbClr val="1FC3A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32918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58B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1600200" y="329184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1 — Exploratory Data Analysis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0080" y="4663440"/>
            <a:ext cx="777240" cy="777240"/>
          </a:xfrm>
          <a:prstGeom prst="roundRect">
            <a:avLst>
              <a:gd name="adj" fmla="val 49412"/>
            </a:avLst>
          </a:prstGeom>
          <a:solidFill>
            <a:srgbClr val="EAF3F4"/>
          </a:solidFill>
          <a:ln w="19050">
            <a:solidFill>
              <a:srgbClr val="1FC3A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46634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58B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1600200" y="466344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2 — Financial Health Analysis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0" y="1920240"/>
            <a:ext cx="777240" cy="777240"/>
          </a:xfrm>
          <a:prstGeom prst="roundRect">
            <a:avLst>
              <a:gd name="adj" fmla="val 49412"/>
            </a:avLst>
          </a:prstGeom>
          <a:solidFill>
            <a:srgbClr val="EAF3F4"/>
          </a:solidFill>
          <a:ln w="19050">
            <a:solidFill>
              <a:srgbClr val="1FC3A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0" y="19202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58B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7360920" y="192024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3 — Customer Engagement Analysis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400800" y="3291840"/>
            <a:ext cx="777240" cy="777240"/>
          </a:xfrm>
          <a:prstGeom prst="roundRect">
            <a:avLst>
              <a:gd name="adj" fmla="val 49412"/>
            </a:avLst>
          </a:prstGeom>
          <a:solidFill>
            <a:srgbClr val="EAF3F4"/>
          </a:solidFill>
          <a:ln w="19050">
            <a:solidFill>
              <a:srgbClr val="1FC3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0" y="32918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58B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7360920" y="329184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4 — Customer Segmentation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400800" y="4663440"/>
            <a:ext cx="777240" cy="777240"/>
          </a:xfrm>
          <a:prstGeom prst="roundRect">
            <a:avLst>
              <a:gd name="adj" fmla="val 49412"/>
            </a:avLst>
          </a:prstGeom>
          <a:solidFill>
            <a:srgbClr val="EAF3F4"/>
          </a:solidFill>
          <a:ln w="19050">
            <a:solidFill>
              <a:srgbClr val="1FC3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00800" y="46634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58B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7360920" y="466344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5 — Recommendations &amp; Impact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YAPPERS · BI10 Round 01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58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11247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700" b="1" dirty="0">
                <a:solidFill>
                  <a:srgbClr val="1243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case: understand wellbeing, not score credit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00200"/>
            <a:ext cx="585216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ITB, a Vietnamese consumer-finance company, wants to understand customer wellbeing, spending and engagement.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customer understanding &amp; segmentation — NOT credit-risk decision-making.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read ratios and shares, never absolute VND: synthetic income/credit/balance magnitudes are inflated.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Distress analysed at consumer-MONTH grain (episodic); "what kind of customer" at consumer level.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675120" y="1645920"/>
            <a:ext cx="2468880" cy="1234440"/>
          </a:xfrm>
          <a:prstGeom prst="roundRect">
            <a:avLst>
              <a:gd name="adj" fmla="val 5926"/>
            </a:avLst>
          </a:prstGeom>
          <a:solidFill>
            <a:srgbClr val="EAF3F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675120" y="1755648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243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999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6675120" y="239572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9326880" y="1645920"/>
            <a:ext cx="2468880" cy="1234440"/>
          </a:xfrm>
          <a:prstGeom prst="roundRect">
            <a:avLst>
              <a:gd name="adj" fmla="val 5926"/>
            </a:avLst>
          </a:prstGeom>
          <a:solidFill>
            <a:srgbClr val="EAF3F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326880" y="1755648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243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1.85M</a:t>
            </a:r>
            <a:endParaRPr lang="en-US" sz="2800" dirty="0"/>
          </a:p>
        </p:txBody>
      </p:sp>
      <p:sp>
        <p:nvSpPr>
          <p:cNvPr id="10" name="Text 8"/>
          <p:cNvSpPr txBox="1"/>
          <p:nvPr/>
        </p:nvSpPr>
        <p:spPr>
          <a:xfrm>
            <a:off x="9326880" y="239572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675120" y="3063240"/>
            <a:ext cx="2468880" cy="1234440"/>
          </a:xfrm>
          <a:prstGeom prst="roundRect">
            <a:avLst>
              <a:gd name="adj" fmla="val 5926"/>
            </a:avLst>
          </a:prstGeom>
          <a:solidFill>
            <a:srgbClr val="EAF3F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0" y="3172968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243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2025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6675120" y="381304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year, VND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9326880" y="3063240"/>
            <a:ext cx="2468880" cy="1234440"/>
          </a:xfrm>
          <a:prstGeom prst="roundRect">
            <a:avLst>
              <a:gd name="adj" fmla="val 5926"/>
            </a:avLst>
          </a:prstGeom>
          <a:solidFill>
            <a:srgbClr val="EAF3F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326880" y="3172968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243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Synthetic</a:t>
            </a:r>
            <a:endParaRPr lang="en-US" sz="2800" dirty="0"/>
          </a:p>
        </p:txBody>
      </p:sp>
      <p:sp>
        <p:nvSpPr>
          <p:cNvPr id="16" name="Text 14"/>
          <p:cNvSpPr txBox="1"/>
          <p:nvPr/>
        </p:nvSpPr>
        <p:spPr>
          <a:xfrm>
            <a:off x="9326880" y="381304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ratios are the signal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675120" y="4572000"/>
            <a:ext cx="5120640" cy="1234440"/>
          </a:xfrm>
          <a:prstGeom prst="roundRect">
            <a:avLst>
              <a:gd name="adj" fmla="val 5926"/>
            </a:avLst>
          </a:prstGeom>
          <a:solidFill>
            <a:srgbClr val="12435E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903720" y="4681728"/>
            <a:ext cx="4709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C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Ethical rule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financial_health_score is a wellbeing measure — never used to deny credit, cut a limit, or block an account.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YAPPERS · BI10 Round 01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58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1 · EDA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11247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700" b="1" dirty="0">
                <a:solidFill>
                  <a:srgbClr val="1243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December is the spending engine — and it runs on frequency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00200"/>
            <a:ext cx="576072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 = 488B VND = 15.0% of the 3.24T annual — 2.8× the Feb trough.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 is frequency: transaction count +187%, avg ticket −2.6%.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 buy more often, not pricier (year-end / Tết prep).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capacity, fraud monitoring &amp; campaigns to volume, not basket size.</a:t>
            </a:r>
            <a:endParaRPr lang="en-US" sz="1400" dirty="0"/>
          </a:p>
        </p:txBody>
      </p:sp>
      <p:pic>
        <p:nvPicPr>
          <p:cNvPr id="5" name="Image 0" descr="D:\BI10GroupYAPPERS\outputs\figures\t1_monthly_spen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46520" y="1554480"/>
            <a:ext cx="5303520" cy="42062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46520" y="5852160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Source folds two years onto 2025, amplifying December — treat 15% as directional.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YAPPERS · BI10 Round 01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58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1 · EDA — THE SPINE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11247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700" b="1" dirty="0">
                <a:solidFill>
                  <a:srgbClr val="1243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Financial stress flips the budget: essential → discretionary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00200"/>
            <a:ext cx="576072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Stressed (FHS &lt; 40): 28% essential / 72% discretionary.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Healthy (FHS ≥ 80): 60% essential / 40% discretionary.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mix inverts completely — low health is NOT people scraping by on necessities.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Highest-leverage help = budgeting visibility on discretionary spend, not credit restriction.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single contrast anchors segmentation (Task 4) and recommendations (Task 5).</a:t>
            </a:r>
            <a:endParaRPr lang="en-US" sz="1400" dirty="0"/>
          </a:p>
        </p:txBody>
      </p:sp>
      <p:pic>
        <p:nvPicPr>
          <p:cNvPr id="5" name="Image 0" descr="D:\BI10GroupYAPPERS\outputs\figures\t1_essential_discretionar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46520" y="1554480"/>
            <a:ext cx="5303520" cy="42062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5029200"/>
            <a:ext cx="3383280" cy="1097280"/>
          </a:xfrm>
          <a:prstGeom prst="roundRect">
            <a:avLst>
              <a:gd name="adj" fmla="val 6667"/>
            </a:avLst>
          </a:prstGeom>
          <a:solidFill>
            <a:srgbClr val="12435E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57200" y="5138928"/>
            <a:ext cx="3383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FC3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72% vs 40%</a:t>
            </a:r>
            <a:endParaRPr lang="en-US" sz="28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577900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discretionary: stressed vs healthy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YAPPERS · BI10 Round 01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58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1 · EDA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11247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700" b="1" dirty="0">
                <a:solidFill>
                  <a:srgbClr val="1243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signal is NOT: geography &amp; age are flat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463040"/>
            <a:ext cx="1124712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regional digital divide — every high-spend province sits at ~41% digital (±0.5pp); province is not a lever.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shopping rhythms: Fuel = frequent touchpoint (1.59M ticket); Groceries = 1.8× larger stock-up basket.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25–34 is the vulnerability hotspot (lowest FHS 65.8, highest spend/income 0.716) — but age spreads only 65.8–67.0, a weak differentiator. Target behavioural ratios, not the map or birth year.</a:t>
            </a:r>
            <a:endParaRPr lang="en-US" sz="1400" dirty="0"/>
          </a:p>
        </p:txBody>
      </p:sp>
      <p:pic>
        <p:nvPicPr>
          <p:cNvPr id="5" name="Image 0" descr="D:\BI10GroupYAPPERS\outputs\figures\t1_category_ticke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3063240"/>
            <a:ext cx="5440680" cy="3200400"/>
          </a:xfrm>
          <a:prstGeom prst="rect">
            <a:avLst/>
          </a:prstGeom>
        </p:spPr>
      </p:pic>
      <p:pic>
        <p:nvPicPr>
          <p:cNvPr id="6" name="Image 1" descr="D:\BI10GroupYAPPERS\outputs\figures\t1_age_cohort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63640" y="3063240"/>
            <a:ext cx="5440680" cy="32004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YAPPERS · BI10 Round 01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58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2 · FINANCIAL HEALTH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11247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700" b="1" dirty="0">
                <a:solidFill>
                  <a:srgbClr val="1243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Health is a tight band; distress is episodic, never chronic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00200"/>
            <a:ext cx="576072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Consumer-level FHS: mean 66.3, range 42–81 — a narrow band with a mild low tail.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Stressed months only 0.9%; 0 of 999 consumers have a 12-month mean below 40.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Distress is episodic — healthy people dip in specific months (Feb 73.6 → Dec 54.2).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Interventions must be event-triggered on the current month, not a static risk list.</a:t>
            </a:r>
            <a:endParaRPr lang="en-US" sz="1400" dirty="0"/>
          </a:p>
        </p:txBody>
      </p:sp>
      <p:pic>
        <p:nvPicPr>
          <p:cNvPr id="5" name="Image 0" descr="D:\BI10GroupYAPPERS\outputs\figures\t2_fhs_distributi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46520" y="1554480"/>
            <a:ext cx="5303520" cy="42062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YAPPERS · BI10 Round 01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58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2 · FINANCIAL HEALTH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11247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700" b="1" dirty="0">
                <a:solidFill>
                  <a:srgbClr val="1243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 health is an overspend story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00200"/>
            <a:ext cx="576072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correlates: spend-to-income −0.90, credit-utilization −0.86, volatility −0.50.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Stressed vs healthy months: spend/income 2.10 vs 0.29; util 0.58 vs 0.08.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Counter-intuitive: stressed months are MORE engaged (81.1 vs 72.7, r −0.30).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Demographics add nothing — score &amp; alert on two ratios, reach via the channel they use.</a:t>
            </a:r>
            <a:endParaRPr lang="en-US" sz="1400" dirty="0"/>
          </a:p>
        </p:txBody>
      </p:sp>
      <p:pic>
        <p:nvPicPr>
          <p:cNvPr id="5" name="Image 0" descr="D:\BI10GroupYAPPERS\outputs\figures\t2_low_health_driver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46520" y="1554480"/>
            <a:ext cx="5303520" cy="42062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46520" y="5852160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FHS and essential/discretionary ratios share spend fields — directional, not causal.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YAPPERS · BI10 Round 01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58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2 · FINANCIAL HEALTH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11247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700" b="1" dirty="0">
                <a:solidFill>
                  <a:srgbClr val="1243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"Stressed but Engaged" crossover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00200"/>
            <a:ext cx="576072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Reproducible rule (month grain): FHS &lt; 40 AND engagement ≥ p75 (81.4).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 consumers / 49 months = 52% of ALL stress episodes.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Profile: spend/income 1.89, credit-util 0.55, online 0.49 (2× national).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Active, digital, over-extended — reachable at near-zero cost via in-app alerts.</a:t>
            </a:r>
            <a:endParaRPr lang="en-US" sz="1400" dirty="0"/>
          </a:p>
        </p:txBody>
      </p:sp>
      <p:pic>
        <p:nvPicPr>
          <p:cNvPr id="5" name="Image 0" descr="D:\BI10GroupYAPPERS\outputs\figures\t2_crossov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46520" y="1554480"/>
            <a:ext cx="5303520" cy="42062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46520" y="5852160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49 months / 43 consumers is a small synthetic cell — a directional archetype.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457200" y="5029200"/>
            <a:ext cx="3383280" cy="1097280"/>
          </a:xfrm>
          <a:prstGeom prst="roundRect">
            <a:avLst>
              <a:gd name="adj" fmla="val 6667"/>
            </a:avLst>
          </a:prstGeom>
          <a:solidFill>
            <a:srgbClr val="12435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457200" y="5138928"/>
            <a:ext cx="3383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FC3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52%</a:t>
            </a:r>
            <a:endParaRPr lang="en-US" sz="28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577900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all stress episodes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YAPPERS · BI10 Round 01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58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3 · ENGAGEMENT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11247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700" b="1" dirty="0">
                <a:solidFill>
                  <a:srgbClr val="1243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Engagement is saturated; digital is broad but shallow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463040"/>
            <a:ext cx="1124712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99.0% of consumer-months are high/very-high engagement (mean 77.8) — the score does NOT segment the base.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mix: POS 58.8% · QR 19.8% · E-com 8.7% · Mobile 7.7% · Recurring 4.9% → digital = 41% of trips but only 21% of spend.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handles many small tickets; big baskets stay on POS. Grow digital value, not just reach. (Note: synthetic cards are engineered highly active — the 99% is partly an artefact.)</a:t>
            </a:r>
            <a:endParaRPr lang="en-US" sz="1400" dirty="0"/>
          </a:p>
        </p:txBody>
      </p:sp>
      <p:pic>
        <p:nvPicPr>
          <p:cNvPr id="5" name="Image 0" descr="D:\BI10GroupYAPPERS\outputs\figures\t3_engagement_dis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3063240"/>
            <a:ext cx="5440680" cy="3200400"/>
          </a:xfrm>
          <a:prstGeom prst="rect">
            <a:avLst/>
          </a:prstGeom>
        </p:spPr>
      </p:pic>
      <p:pic>
        <p:nvPicPr>
          <p:cNvPr id="6" name="Image 1" descr="D:\BI10GroupYAPPERS\outputs\figures\t3_channel_mix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63640" y="3063240"/>
            <a:ext cx="5440680" cy="32004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YAPPERS · BI10 Round 01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58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3 · ENGAGEMENT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11247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700" b="1" dirty="0">
                <a:solidFill>
                  <a:srgbClr val="1243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actually discriminates: diversity &amp; consistency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00200"/>
            <a:ext cx="576072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diversity is the cleanest signal: r +0.94 with engagement (consumer level).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dormant tail is disengaged because it is narrow — 4–6 categories vs ~14 for the core.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Consistency (active days r +0.59) beats raw volume (txn count r +0.40).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falling category count flags disengagement before the composite score moves.</a:t>
            </a:r>
            <a:endParaRPr lang="en-US" sz="1400" dirty="0"/>
          </a:p>
        </p:txBody>
      </p:sp>
      <p:pic>
        <p:nvPicPr>
          <p:cNvPr id="5" name="Image 0" descr="D:\BI10GroupYAPPERS\outputs\figures\t3_diversity_vs_engagemen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46520" y="1554480"/>
            <a:ext cx="5303520" cy="42062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YAPPERS · BI10 Round 01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58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3 · ENGAGEMENT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11247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700" b="1" dirty="0">
                <a:solidFill>
                  <a:srgbClr val="1243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High-health, low-engagement: dormancy hiding in "healthy"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00200"/>
            <a:ext cx="576072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Cutoff: FHS ≥ 70 AND engagement &lt; 70 → 25 consumers (2.5%).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70: the same 25 return at eng &lt; 65/68/70 — a natural gap in the data.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moved spend off-card to narrow online use (diversity 4.7 vs 13.2; online 0.61 vs 0.24).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 = reactivation of everyday use, NOT budgeting — distinct from the 67 distress-tail customers.</a:t>
            </a:r>
            <a:endParaRPr lang="en-US" sz="1400" dirty="0"/>
          </a:p>
        </p:txBody>
      </p:sp>
      <p:pic>
        <p:nvPicPr>
          <p:cNvPr id="5" name="Image 0" descr="D:\BI10GroupYAPPERS\outputs\figures\t3_health_vs_engagement_quadran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46520" y="1554480"/>
            <a:ext cx="5303520" cy="42062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46520" y="5852160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n = 25, synthetic-inflated engagement — a cohort to watch, not a sized forecast.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YAPPERS · BI10 Round 01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58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4 · SEGMENTATION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11247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700" b="1" dirty="0">
                <a:solidFill>
                  <a:srgbClr val="1243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Method: cluster on behaviour, justify k honestly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00200"/>
            <a:ext cx="576072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10,992 consumer-months → 999 consumers (yearly mean profile).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z-scaled behavioural features across health, engagement &amp; spending; demographics excluded (no signal).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 chosen over a pure 2×2 so boundaries form across all 8 dimensions at once.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k=4 via elbow + silhouette (0.251); coverage 999/999, all 7 minors retained — PASS.</a:t>
            </a:r>
            <a:endParaRPr lang="en-US" sz="1400" dirty="0"/>
          </a:p>
        </p:txBody>
      </p:sp>
      <p:pic>
        <p:nvPicPr>
          <p:cNvPr id="5" name="Image 0" descr="D:\BI10GroupYAPPERS\outputs\figures\t4_silhouett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46520" y="1554480"/>
            <a:ext cx="5303520" cy="42062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YAPPERS · BI10 Round 01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58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4 · SEGMENTATION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11247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700" b="1" dirty="0">
                <a:solidFill>
                  <a:srgbClr val="1243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four customer segments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463040"/>
            <a:ext cx="1124712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Financially Healthy &amp; Highly Engaged — 351 (35%): FHS 70.5, lowest util 0.148 → retain &amp; grow value.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Financially Stretched but Highly Engaged — 302 (30%): highest spend/income 0.835, still engaged → the wellbeing priority.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High-Activity Digital Power Users — 258 (26%): most active &amp; volatile → monetise &amp; monitor drift.  ·  Low Engagement &amp; Emerging Digital — 88 (9%): near-dormant but 67% online → activate; highest growth headroom.</a:t>
            </a:r>
            <a:endParaRPr lang="en-US" sz="1400" dirty="0"/>
          </a:p>
        </p:txBody>
      </p:sp>
      <p:pic>
        <p:nvPicPr>
          <p:cNvPr id="5" name="Image 0" descr="D:\BI10GroupYAPPERS\outputs\figures\t4_segment_siz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3063240"/>
            <a:ext cx="5440680" cy="3200400"/>
          </a:xfrm>
          <a:prstGeom prst="rect">
            <a:avLst/>
          </a:prstGeom>
        </p:spPr>
      </p:pic>
      <p:pic>
        <p:nvPicPr>
          <p:cNvPr id="6" name="Image 1" descr="D:\BI10GroupYAPPERS\outputs\figures\t4_segment_profile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63640" y="3063240"/>
            <a:ext cx="5440680" cy="32004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YAPPERS · BI10 Round 01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58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5 · RECOMMENDATIONS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11247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700" b="1" dirty="0">
                <a:solidFill>
                  <a:srgbClr val="1243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six-tool, non-punitive action plan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00200"/>
            <a:ext cx="576072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Budgeting → Stretched-Engaged (302): spend-vs-income dashboard (driver −0.90).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Spend alerts → Crossover (43 = 52% of stress): event-triggered in-app pacing.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Planning reminders → Power Users (258): pre-December pacing (volatility r −0.50).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Education → Distress tail (67): needs-vs-wants modules (essential ratio +0.48).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⑤ Digital nudges → Emerging Digital (88): onboarding &amp; habit loops (diversity r +0.94).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⑥ Product suggestions → Healthy-Engaged (351): savings/loyalty, opt-in, never auto-extend.</a:t>
            </a:r>
            <a:endParaRPr lang="en-US" sz="1400" dirty="0"/>
          </a:p>
        </p:txBody>
      </p:sp>
      <p:pic>
        <p:nvPicPr>
          <p:cNvPr id="5" name="Image 0" descr="D:\BI10GroupYAPPERS\outputs\figures\t5_target_siz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46520" y="1554480"/>
            <a:ext cx="5303520" cy="42062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YAPPERS · BI10 Round 01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58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5 · RECOMMENDATIONS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11247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700" b="1" dirty="0">
                <a:solidFill>
                  <a:srgbClr val="1243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Prioritization &amp; the ethical rule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00200"/>
            <a:ext cx="576072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Ranking (reach × driver): Budgeting → Alerts → Reminders → Products → Nudges → Education.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with Budgeting + Alerts (the wellbeing mission); layer growth on top.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double-counting: the 4 segments partition 999; crossover (43) &amp; distress (67) are overlays inside Segment 2.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 by design: targeting on ratios, not demographics; monitor (don't use) a mild male skew.</a:t>
            </a:r>
            <a:endParaRPr lang="en-US" sz="1400" dirty="0"/>
          </a:p>
        </p:txBody>
      </p:sp>
      <p:pic>
        <p:nvPicPr>
          <p:cNvPr id="5" name="Image 0" descr="D:\BI10GroupYAPPERS\outputs\figures\t5_priority_ranking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46520" y="1554480"/>
            <a:ext cx="5303520" cy="42062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5029200"/>
            <a:ext cx="3383280" cy="1097280"/>
          </a:xfrm>
          <a:prstGeom prst="roundRect">
            <a:avLst>
              <a:gd name="adj" fmla="val 6667"/>
            </a:avLst>
          </a:prstGeom>
          <a:solidFill>
            <a:srgbClr val="12435E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57200" y="5138928"/>
            <a:ext cx="3383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FC3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NEVER</a:t>
            </a:r>
            <a:endParaRPr lang="en-US" sz="28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577900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FHS → credit decision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YAPPERS · BI10 Round 01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C3A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822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FC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contract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234440"/>
            <a:ext cx="10607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Grow the healthy, activate the dormant, protect the stretched —</a:t>
            </a:r>
            <a:endParaRPr lang="en-US" sz="2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without ever touching their credit.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06324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C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spine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3383280" y="306324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CEA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Overspend drives poor health; the budget inverts under stress; stress is episodic, striking the most engaged.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849624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C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payoff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3383280" y="3849624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CEA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clean segments (351/302/258/88) and a 6-tool plan reaching every customer with the right non-punitive touch.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4636008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C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action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383280" y="4636008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CEA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Budgeting for 302 + real-time Alerts catching 52% of all stress — highest reach × strongest driver, near-zero cost.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542239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C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limits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383280" y="5422392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CEA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single-year data, flat geography/age, engineered engagement — sizes directional, conclusions robust on ratios.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626364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FC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guarantee: wellbeing help, never a credit decision.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2026-09-22T06:51:12Z</dcterms:created>
  <dcterms:modified xsi:type="dcterms:W3CDTF">2026-09-22T06:51:12Z</dcterms:modified>
</cp:coreProperties>
</file>