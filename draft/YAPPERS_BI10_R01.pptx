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wellbeing study, not credit scoring. In one line: people slide into stress because they overspend on wants, usually in specific months, so ITB can offer help at the right time and never touch anyone's credit.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row per task: signal, driver, engagement, segments, plan. The 52% (T2) is the share of the 95 stress months held by the 43 crossover customers; spend-to-income and utilization explain 82% of FHS; the 28–32% is a simulated what-if, to be tested against holdouts (slide 21).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Four required sections: Executive Summary (2), Contents (3), Introduction (4), Task results (5–21). Each task follows the brief's question order.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rules govern the deck: ratios over magnitudes, wellbeing over credit. The data is clean; the caveats are the synthetic ones the case documents, plus 91 customers seen only once, which we flag wherever they touch a number. 693 merchants, 34 provinces.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Peak = December 488.0B VND (15.04% of 3.24T), trough = February 174.4B (5.37%); gap +313.7B (+9.7pp). All 14 categories grow +181% to +193% in transactions. Case §12: two source years folded onto 2025 inflate absolute VND, so the share and the 2.8× ratio are the reliable signal.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95 stressed months (70 customers): 28.4% essential / 71.6% discretionary; 475 healthy months (303 customers): 59.5% / 40.5%. The share falls steadily across every band, so it is not a cutoff artefact (FHS&lt;35 vs ≥85: 73.5% vs 30.2%). Essentials are ~47% of transactions in both groups: the flip is in value (discretionary ticket 3.9M vs 1.1M VND). Implication: pre-purchase visibility, never credit restriction.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Qualifying = spend above the provincial median (&gt; 82.7B VND) and digital (non-POS) share below the national 41.2%. Only 3 of 6 gaps are significant (p &lt; 0.05). HCMC leads spend (13.6%) at 41.3% digital; range Cao Bang 43.1% to Quang Ngai 39.2%.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Q4: fuel is a frequent top-up (96.8% of customers buy it), groceries a stock-up basket (99.3%). Q5: 25–34 is the only cohort above national spend-to-income (0.716 vs 0.700) and below the national essential ratio (0.468 vs 0.481) — overspending on wants. But the spread is 1.2 points, 95% CIs overlap and ANOVA p = 0.13: age is a weak lever.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Consumer level: mean 66.3, median 66.2, std 4.7, range 42.3–80.8, skew −0.32. Month level: std 9.5; Stable 72.5% · Watch 22.4% · Healthy 4.3% · Stressed 0.9%. Who the customer is explains only 22% of monthly variance, the calendar month 25%.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Spend-to-income and utilization move together (r 0.90): one overspending factor, which also holds within each customer (r −0.90). Stressed months are 71.6% discretionary by value and have 2× the e-commerce + app share (23% vs 12%). They are also more engaged (81.1 vs 72.7). FHS and the ratios share spend fields — directional, not causal.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Occupation: 396 titles grouped into 8 keyword groups; Eng/science/IT 69.1 and Business/finance 68.7 vs Office/public 64.5 and Manual 62.9, mirroring spend-to-income 0.61 vs 0.76–0.79. Province ANOVA p = 0.009 but only 5% of variance. Target the ratio, never the group — fairer and more effective.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Rule applied per customer-month; a customer belongs if any month qualifies. 49 months / 43 customers = 51.6% of stressed months vs 25% by chance (p &lt; 0.001); top 30% / 20% give 44 / 41 customers. All 43 are full-year customers averaging FHS 62 in other months; 39 sit in the Stretched segment. Late-night count differs little (11.6% vs 9.7%): bigger tickets, led by online shopping (39%) and travel (14%). Wellbeing use only.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Engagement score mean 77.8, median 78.1, IQR 74.8–81.4. Every full-year customer averages ≥ 69.8, so the score separates one-off users from the base, not good customers from great ones. Channels: POS 58.8% · QR 19.8% · E-commerce 8.7% · Mobile 7.7% · Recurring 4.9%; non-POS = 41% of trips and 41.5% of value. Chart choice: histogram for a continuous score (bands shaded so the 1% tail stays visible), sorted bars for nominal channels.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Ranges: recency 0–30 days (median 0), active days 1–31 (median 30), 2–713 transactions a month (median 150). r = +0.94 across all customers is partly two clusters; +0.81 within the 908 full-year base shows the link holds. Scatter for two continuous variables; heatmap for the recency × frequency interaction.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FHS ≥ 70 = top 21% (p79); engagement &lt; 70 is below the customer p10 (71.1). Looser cutoffs pull in active users (39 at 72.5, 63 at 75); FHS ≥ 65 gives 48, ≥ 75 gives 9. Also: age 61 vs 50, diversity 4.7 vs 13.1, spend/income 0.46 vs 0.70; 24 of 25 are Occasional Online-First. One month of data each: a watch-list, never used to limit credit.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Preprocessing: 10,992 customer-months → 999 customers (yearly mean per ratio), 0 nulls. Features: FHS, spend/income, utilization, volatility, engagement, transactions, discretionary share, online share (z-scaled). Excluded: essential ratio (= 1 − discretionary); diversity, active days, recency (near-constant). Silhouette 0.25 = moderate separation, expected for behaviour.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heatmap is the side-by-side comparison the brief asks for. Health splits Healthy from Stretched, activity isolates High-Activity (not more online: 21% vs 25% average; youngest, 60% female), and the Occasional group is defined by how rarely we see them (1.1 of 12 months). Suggested personas not formed: Essential-Spend-Focused = 4 customers; Healthy-but-Disengaged = 25, 24 of them Occasional.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Stability: 20 seeds ARI 0.988; 80% bootstrap × 50 ARI 0.911; dropping December 0.873. GMM agrees 0.26 (Occasional identical). 2×2 median cross-check agrees on health (344/351, 273/302). Future work detail: hybrid model (rule for part-year customers + k = 3 on the full-year base), trajectory features (slope, December dip), chronological early-warning on next_month_low_health_flag trained Jan–Aug, validated Sep–Oct, tested Nov (support only).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tool per required type, each with an exact size, the column it rests on and a KPI. Every tool is opt-in and behaviour-triggered.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Wellbeing: Budgeting 271 → Reminders 128 → Alerts 37 → Education 32. Growth: Products 74 → Nudges 52. Targets skew (Reminders 60.5% female; Education/Nudges mean age ~58), so we monitor uptake by group rather than target by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95 → 65 stress months with the all-customer slope, 68 with the slope inside the segment (−22.2); 9 of the 95 stress months sit outside the 302. Spend-to-income and utilization explain 82% of FHS, so only the holdout test can show real behaviour change. A hypothesis to measure, not a promise.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a judge remembers three things: overspending, not income; timing, not a blacklist; help offered, never credit taken away.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25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09728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A9C6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BI10 ROUND 01  ·  GROUP YAPPERS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645920"/>
            <a:ext cx="10515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ITB Consumer Wellbeing</a:t>
            </a:r>
            <a:endParaRPr lang="en-US" sz="4400" dirty="0"/>
          </a:p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&amp; Segmentation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47472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FE0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Overspending, not low income, drives financial stress — and help can be timed to reach it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31520" y="4572000"/>
            <a:ext cx="2148840" cy="1097280"/>
          </a:xfrm>
          <a:prstGeom prst="roundRect">
            <a:avLst>
              <a:gd name="adj" fmla="val 6667"/>
            </a:avLst>
          </a:prstGeom>
          <a:solidFill>
            <a:srgbClr val="13345E"/>
          </a:solidFill>
          <a:ln w="12700">
            <a:solidFill>
              <a:srgbClr val="13345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4645152"/>
            <a:ext cx="2148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999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5230368"/>
            <a:ext cx="2148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9C6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customers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063240" y="4572000"/>
            <a:ext cx="2148840" cy="1097280"/>
          </a:xfrm>
          <a:prstGeom prst="roundRect">
            <a:avLst>
              <a:gd name="adj" fmla="val 6667"/>
            </a:avLst>
          </a:prstGeom>
          <a:solidFill>
            <a:srgbClr val="13345E"/>
          </a:solidFill>
          <a:ln w="12700">
            <a:solidFill>
              <a:srgbClr val="13345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063240" y="4645152"/>
            <a:ext cx="2148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10,992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3063240" y="5230368"/>
            <a:ext cx="2148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9C6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customer-months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394960" y="4572000"/>
            <a:ext cx="2148840" cy="1097280"/>
          </a:xfrm>
          <a:prstGeom prst="roundRect">
            <a:avLst>
              <a:gd name="adj" fmla="val 6667"/>
            </a:avLst>
          </a:prstGeom>
          <a:solidFill>
            <a:srgbClr val="13345E"/>
          </a:solidFill>
          <a:ln w="12700">
            <a:solidFill>
              <a:srgbClr val="13345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394960" y="4645152"/>
            <a:ext cx="2148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1.85M</a:t>
            </a:r>
            <a:endParaRPr lang="en-US" sz="2600" dirty="0"/>
          </a:p>
        </p:txBody>
      </p:sp>
      <p:sp>
        <p:nvSpPr>
          <p:cNvPr id="13" name="Text 11"/>
          <p:cNvSpPr txBox="1"/>
          <p:nvPr/>
        </p:nvSpPr>
        <p:spPr>
          <a:xfrm>
            <a:off x="5394960" y="5230368"/>
            <a:ext cx="2148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9C6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transactions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7726680" y="4572000"/>
            <a:ext cx="2148840" cy="1097280"/>
          </a:xfrm>
          <a:prstGeom prst="roundRect">
            <a:avLst>
              <a:gd name="adj" fmla="val 6667"/>
            </a:avLst>
          </a:prstGeom>
          <a:solidFill>
            <a:srgbClr val="13345E"/>
          </a:solidFill>
          <a:ln w="12700">
            <a:solidFill>
              <a:srgbClr val="13345E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726680" y="4645152"/>
            <a:ext cx="2148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2025</a:t>
            </a:r>
            <a:endParaRPr lang="en-US" sz="2600" dirty="0"/>
          </a:p>
        </p:txBody>
      </p:sp>
      <p:sp>
        <p:nvSpPr>
          <p:cNvPr id="16" name="Text 14"/>
          <p:cNvSpPr txBox="1"/>
          <p:nvPr/>
        </p:nvSpPr>
        <p:spPr>
          <a:xfrm>
            <a:off x="7726680" y="5230368"/>
            <a:ext cx="2148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9C6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year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731520" y="603504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C6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September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F5F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03504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B25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Overspending drives stress — and it is timed, reachable and fixable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566928" cy="566928"/>
          </a:xfrm>
          <a:prstGeom prst="ellipse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6916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325880" y="1600200"/>
            <a:ext cx="26517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F5F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71.6% vs 40.5%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4069080" y="1618488"/>
            <a:ext cx="7589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5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flips the budget to wants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4069080" y="1947672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Discretionary share in stressed vs healthy months; purchases ≥ 10M VND are 4% of stressed transactions but 54% of the value.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48640" y="2624328"/>
            <a:ext cx="566928" cy="566928"/>
          </a:xfrm>
          <a:prstGeom prst="ellipse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62432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T2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325880" y="2532888"/>
            <a:ext cx="26517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F5F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52%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4069080" y="2551176"/>
            <a:ext cx="7589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5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is episodic and concentrated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4069080" y="2880360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Spend-to-income (r −0.90) drives health. Nobody is stressed all year, yet 87% dip below 60; 43 active customers hold 52% of stress months.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48640" y="3557016"/>
            <a:ext cx="566928" cy="566928"/>
          </a:xfrm>
          <a:prstGeom prst="ellipse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48640" y="35570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T3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325880" y="3465576"/>
            <a:ext cx="26517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F5F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91</a:t>
            </a:r>
            <a:endParaRPr lang="en-US" sz="2600" dirty="0"/>
          </a:p>
        </p:txBody>
      </p:sp>
      <p:sp>
        <p:nvSpPr>
          <p:cNvPr id="17" name="Text 15"/>
          <p:cNvSpPr txBox="1"/>
          <p:nvPr/>
        </p:nvSpPr>
        <p:spPr>
          <a:xfrm>
            <a:off x="4069080" y="3483864"/>
            <a:ext cx="7589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5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Engagement is saturated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4069080" y="3813048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91% of customers are High / Very high; the entire low tail is 91 customers seen on only 1–2 days. Breadth and regular use drive engagement.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48640" y="4489704"/>
            <a:ext cx="566928" cy="566928"/>
          </a:xfrm>
          <a:prstGeom prst="ellipse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8640" y="448970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T4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1325880" y="4398264"/>
            <a:ext cx="26517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F5F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600" dirty="0"/>
          </a:p>
        </p:txBody>
      </p:sp>
      <p:sp>
        <p:nvSpPr>
          <p:cNvPr id="22" name="Text 20"/>
          <p:cNvSpPr txBox="1"/>
          <p:nvPr/>
        </p:nvSpPr>
        <p:spPr>
          <a:xfrm>
            <a:off x="4069080" y="4416552"/>
            <a:ext cx="7589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5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stable segments, 100% covered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4069080" y="4745736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Healthy 351 · Stretched 302 · High-Activity 258 · Occasional 88; stable across seeds (ARI 0.99). December cuts health ~13 pts in every segment.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548640" y="5422392"/>
            <a:ext cx="566928" cy="566928"/>
          </a:xfrm>
          <a:prstGeom prst="ellipse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48640" y="542239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T5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1325880" y="5330952"/>
            <a:ext cx="26517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F5F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−28–32%</a:t>
            </a:r>
            <a:endParaRPr lang="en-US" sz="2600" dirty="0"/>
          </a:p>
        </p:txBody>
      </p:sp>
      <p:sp>
        <p:nvSpPr>
          <p:cNvPr id="27" name="Text 25"/>
          <p:cNvSpPr txBox="1"/>
          <p:nvPr/>
        </p:nvSpPr>
        <p:spPr>
          <a:xfrm>
            <a:off x="4069080" y="5349240"/>
            <a:ext cx="7589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5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Six opt-in tools, one rule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4069080" y="5678424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Budgeting → November reminders → evening alerts lead. In a what-if, a 10% spend trim cuts stress months 28–32% (to be tested). FHS never touches credit.</a:t>
            </a:r>
            <a:endParaRPr lang="en-US" sz="1150" dirty="0"/>
          </a:p>
        </p:txBody>
      </p:sp>
      <p:sp>
        <p:nvSpPr>
          <p:cNvPr id="29" name="Text 27"/>
          <p:cNvSpPr txBox="1"/>
          <p:nvPr/>
        </p:nvSpPr>
        <p:spPr>
          <a:xfrm>
            <a:off x="11183112" y="638251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F5F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03504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B25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this deck covers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5440680" cy="1188720"/>
          </a:xfrm>
          <a:prstGeom prst="roundRect">
            <a:avLst>
              <a:gd name="adj" fmla="val 6154"/>
            </a:avLst>
          </a:prstGeom>
          <a:solidFill>
            <a:srgbClr val="EEF4FB"/>
          </a:solidFill>
          <a:ln w="12700">
            <a:solidFill>
              <a:srgbClr val="EEF4F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737360"/>
            <a:ext cx="1005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5F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1874520" y="1993392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5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Introduction &amp; data quality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874520" y="2395728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4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172200" y="1737360"/>
            <a:ext cx="5440680" cy="1188720"/>
          </a:xfrm>
          <a:prstGeom prst="roundRect">
            <a:avLst>
              <a:gd name="adj" fmla="val 6154"/>
            </a:avLst>
          </a:prstGeom>
          <a:solidFill>
            <a:srgbClr val="EEF4FB"/>
          </a:solidFill>
          <a:ln w="12700">
            <a:solidFill>
              <a:srgbClr val="EEF4F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46520" y="1737360"/>
            <a:ext cx="1005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5F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3000" dirty="0"/>
          </a:p>
        </p:txBody>
      </p:sp>
      <p:sp>
        <p:nvSpPr>
          <p:cNvPr id="10" name="Text 8"/>
          <p:cNvSpPr txBox="1"/>
          <p:nvPr/>
        </p:nvSpPr>
        <p:spPr>
          <a:xfrm>
            <a:off x="7498080" y="1993392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5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Task 1 — Exploratory data analysis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7498080" y="2395728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slides 5–8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3154680"/>
            <a:ext cx="5440680" cy="1188720"/>
          </a:xfrm>
          <a:prstGeom prst="roundRect">
            <a:avLst>
              <a:gd name="adj" fmla="val 6154"/>
            </a:avLst>
          </a:prstGeom>
          <a:solidFill>
            <a:srgbClr val="EEF4FB"/>
          </a:solidFill>
          <a:ln w="12700">
            <a:solidFill>
              <a:srgbClr val="EEF4F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" y="3154680"/>
            <a:ext cx="1005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5F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3000" dirty="0"/>
          </a:p>
        </p:txBody>
      </p:sp>
      <p:sp>
        <p:nvSpPr>
          <p:cNvPr id="14" name="Text 12"/>
          <p:cNvSpPr txBox="1"/>
          <p:nvPr/>
        </p:nvSpPr>
        <p:spPr>
          <a:xfrm>
            <a:off x="1874520" y="3410712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5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Task 2 — Financial health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1874520" y="3813048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slides 9–12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172200" y="3154680"/>
            <a:ext cx="5440680" cy="1188720"/>
          </a:xfrm>
          <a:prstGeom prst="roundRect">
            <a:avLst>
              <a:gd name="adj" fmla="val 6154"/>
            </a:avLst>
          </a:prstGeom>
          <a:solidFill>
            <a:srgbClr val="EEF4FB"/>
          </a:solidFill>
          <a:ln w="12700">
            <a:solidFill>
              <a:srgbClr val="EEF4F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446520" y="3154680"/>
            <a:ext cx="1005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5F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3000" dirty="0"/>
          </a:p>
        </p:txBody>
      </p:sp>
      <p:sp>
        <p:nvSpPr>
          <p:cNvPr id="18" name="Text 16"/>
          <p:cNvSpPr txBox="1"/>
          <p:nvPr/>
        </p:nvSpPr>
        <p:spPr>
          <a:xfrm>
            <a:off x="7498080" y="3410712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5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Task 3 — Customer engagement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7498080" y="3813048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slides 13–15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48640" y="4572000"/>
            <a:ext cx="5440680" cy="1188720"/>
          </a:xfrm>
          <a:prstGeom prst="roundRect">
            <a:avLst>
              <a:gd name="adj" fmla="val 6154"/>
            </a:avLst>
          </a:prstGeom>
          <a:solidFill>
            <a:srgbClr val="EEF4FB"/>
          </a:solidFill>
          <a:ln w="12700">
            <a:solidFill>
              <a:srgbClr val="EEF4F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22960" y="4572000"/>
            <a:ext cx="1005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5F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3000" dirty="0"/>
          </a:p>
        </p:txBody>
      </p:sp>
      <p:sp>
        <p:nvSpPr>
          <p:cNvPr id="22" name="Text 20"/>
          <p:cNvSpPr txBox="1"/>
          <p:nvPr/>
        </p:nvSpPr>
        <p:spPr>
          <a:xfrm>
            <a:off x="1874520" y="4828032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5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Task 4 — Customer segmentation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1874520" y="5230368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slides 16–18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6172200" y="4572000"/>
            <a:ext cx="5440680" cy="1188720"/>
          </a:xfrm>
          <a:prstGeom prst="roundRect">
            <a:avLst>
              <a:gd name="adj" fmla="val 6154"/>
            </a:avLst>
          </a:prstGeom>
          <a:solidFill>
            <a:srgbClr val="EEF4FB"/>
          </a:solidFill>
          <a:ln w="12700">
            <a:solidFill>
              <a:srgbClr val="EEF4FB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446520" y="4572000"/>
            <a:ext cx="1005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5F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3000" dirty="0"/>
          </a:p>
        </p:txBody>
      </p:sp>
      <p:sp>
        <p:nvSpPr>
          <p:cNvPr id="26" name="Text 24"/>
          <p:cNvSpPr txBox="1"/>
          <p:nvPr/>
        </p:nvSpPr>
        <p:spPr>
          <a:xfrm>
            <a:off x="7498080" y="4828032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5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Task 5 — Recommendations &amp; impact</a:t>
            </a:r>
            <a:endParaRPr lang="en-US" sz="1600" dirty="0"/>
          </a:p>
        </p:txBody>
      </p:sp>
      <p:sp>
        <p:nvSpPr>
          <p:cNvPr id="27" name="Text 25"/>
          <p:cNvSpPr txBox="1"/>
          <p:nvPr/>
        </p:nvSpPr>
        <p:spPr>
          <a:xfrm>
            <a:off x="7498080" y="5230368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slides 19–21 · closing 22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11183112" y="638251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F5F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INTRODUCTION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03504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B25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wellbeing lens on 999 customers — built on clean, reconciled data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91640"/>
            <a:ext cx="539496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ITB wants to understand customers' financial wellbeing, spending and channel engagement — not to score credit risk.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compare ratios and shares, never absolute VND: synthetic income, credit and balances are inflated.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is measured per customer-month (it comes and goes); segments per customer (yearly profile).</a:t>
            </a:r>
            <a:endParaRPr lang="en-US" sz="1350" dirty="0"/>
          </a:p>
          <a:p>
            <a:pPr marL="342900" indent="-342900">
              <a:buSzPct val="100000"/>
              <a:buChar char="•"/>
            </a:pPr>
            <a:r>
              <a:rPr lang="en-US" sz="135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Process: data checks → EDA → health → engagement → segmentation → recommendations.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4800600"/>
            <a:ext cx="5394960" cy="1325880"/>
          </a:xfrm>
          <a:prstGeom prst="roundRect">
            <a:avLst>
              <a:gd name="adj" fmla="val 5517"/>
            </a:avLst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4892040"/>
            <a:ext cx="49377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A9C6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Ethical rule   </a:t>
            </a:r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financial_health_score is a wellbeing indicator — never used to approve or deny credit, cut a limit, raise a rate or block an account.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63640" y="1691640"/>
            <a:ext cx="5376672" cy="4434840"/>
          </a:xfrm>
          <a:prstGeom prst="roundRect">
            <a:avLst>
              <a:gd name="adj" fmla="val 1649"/>
            </a:avLst>
          </a:prstGeom>
          <a:solidFill>
            <a:srgbClr val="EEF4FB"/>
          </a:solidFill>
          <a:ln w="12700">
            <a:solidFill>
              <a:srgbClr val="EEF4F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92240" y="182880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5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Data-quality checks (both files)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92240" y="2377440"/>
            <a:ext cx="329184" cy="329184"/>
          </a:xfrm>
          <a:prstGeom prst="ellipse">
            <a:avLst/>
          </a:prstGeom>
          <a:solidFill>
            <a:srgbClr val="1F5FA8"/>
          </a:solidFill>
          <a:ln w="15240">
            <a:solidFill>
              <a:srgbClr val="1F5FA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92240" y="23774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6949440" y="2331720"/>
            <a:ext cx="4526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missing cells, 0 duplicate IDs, 0 negative amounts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492240" y="2980944"/>
            <a:ext cx="329184" cy="329184"/>
          </a:xfrm>
          <a:prstGeom prst="ellipse">
            <a:avLst/>
          </a:prstGeom>
          <a:solidFill>
            <a:srgbClr val="1F5FA8"/>
          </a:solidFill>
          <a:ln w="15240">
            <a:solidFill>
              <a:srgbClr val="1F5FA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92240" y="298094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949440" y="2935224"/>
            <a:ext cx="4526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timestamps in 2025; 1 name per customer and merchant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492240" y="3584448"/>
            <a:ext cx="329184" cy="329184"/>
          </a:xfrm>
          <a:prstGeom prst="ellipse">
            <a:avLst/>
          </a:prstGeom>
          <a:solidFill>
            <a:srgbClr val="1F5FA8"/>
          </a:solidFill>
          <a:ln w="15240">
            <a:solidFill>
              <a:srgbClr val="1F5FA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92240" y="35844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949440" y="3538728"/>
            <a:ext cx="4526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Transactions reconcile 100% to monthly spend (10,992 months)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492240" y="4187952"/>
            <a:ext cx="329184" cy="329184"/>
          </a:xfrm>
          <a:prstGeom prst="ellipse">
            <a:avLst/>
          </a:prstGeom>
          <a:solidFill>
            <a:srgbClr val="1F5FA8"/>
          </a:solidFill>
          <a:ln w="15240">
            <a:solidFill>
              <a:srgbClr val="1F5FA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492240" y="418795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6949440" y="4142232"/>
            <a:ext cx="4526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minors kept; 5 over-limit months kept as real behaviour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492240" y="4791456"/>
            <a:ext cx="329184" cy="329184"/>
          </a:xfrm>
          <a:prstGeom prst="ellipse">
            <a:avLst/>
          </a:prstGeom>
          <a:solidFill>
            <a:srgbClr val="FFFFFF"/>
          </a:solidFill>
          <a:ln w="15240">
            <a:solidFill>
              <a:srgbClr val="1F5FA8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492240" y="479145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5F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!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6949440" y="4745736"/>
            <a:ext cx="4526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908 customers have 12 months; 91 appear on only 1–2 days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6492240" y="5394960"/>
            <a:ext cx="329184" cy="329184"/>
          </a:xfrm>
          <a:prstGeom prst="ellipse">
            <a:avLst/>
          </a:prstGeom>
          <a:solidFill>
            <a:srgbClr val="FFFFFF"/>
          </a:solidFill>
          <a:ln w="15240">
            <a:solidFill>
              <a:srgbClr val="1F5FA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492240" y="539496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5F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!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6949440" y="5349240"/>
            <a:ext cx="4526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source years folded onto 2025 (case study §12) → ratios are the signal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548640" y="638251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5B6B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consumer_financial_health_engagement_2025 (10,992 consumer-months, 999 customers); consumer_transactions_2025 (1,852,394 transactions). Charts: notebooks/full_pipeline.ipynb.</a:t>
            </a:r>
            <a:endParaRPr lang="en-US" sz="850" dirty="0"/>
          </a:p>
        </p:txBody>
      </p:sp>
      <p:sp>
        <p:nvSpPr>
          <p:cNvPr id="28" name="Text 26"/>
          <p:cNvSpPr txBox="1"/>
          <p:nvPr/>
        </p:nvSpPr>
        <p:spPr>
          <a:xfrm>
            <a:off x="11183112" y="638251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F5F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TASK 1 · EDA · Q1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03504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B25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December is 15% of annual spend — driven by more trips, not bigger baskets</a:t>
            </a:r>
            <a:endParaRPr lang="en-US" sz="2400" dirty="0"/>
          </a:p>
        </p:txBody>
      </p:sp>
      <p:pic>
        <p:nvPicPr>
          <p:cNvPr id="4" name="Image 0" descr="D:\BI10GroupYAPPERS\outputs\figures\deck_q1_index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600200"/>
            <a:ext cx="7498080" cy="45262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8275320" y="1600200"/>
            <a:ext cx="3364992" cy="4526280"/>
          </a:xfrm>
          <a:prstGeom prst="roundRect">
            <a:avLst>
              <a:gd name="adj" fmla="val 2717"/>
            </a:avLst>
          </a:prstGeom>
          <a:solidFill>
            <a:srgbClr val="EEF4FB"/>
          </a:solidFill>
          <a:ln w="12700">
            <a:solidFill>
              <a:srgbClr val="EEF4FB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503920" y="1783080"/>
            <a:ext cx="29077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5F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2.9×</a:t>
            </a:r>
            <a:endParaRPr lang="en-US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8503920" y="2560320"/>
            <a:ext cx="29077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B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transactions per customer, December vs February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8503920" y="3200400"/>
            <a:ext cx="2953512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 488B VND = 15.04% of the year vs Feb 174B = 5.37% (2.8×)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Transactions +187%, average ticket −2.6%; active customers flat (919 → 918)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December is also the weakest-health month (FHS 54.2) → plan support before it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638251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5B6B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consumer_transactions_2025 (1,852,394 transactions). Charts: notebooks/full_pipeline.ipynb.</a:t>
            </a:r>
            <a:endParaRPr lang="en-US" sz="850" dirty="0"/>
          </a:p>
        </p:txBody>
      </p:sp>
      <p:sp>
        <p:nvSpPr>
          <p:cNvPr id="10" name="Text 7"/>
          <p:cNvSpPr txBox="1"/>
          <p:nvPr/>
        </p:nvSpPr>
        <p:spPr>
          <a:xfrm>
            <a:off x="11183112" y="638251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F5F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TASK 1 · EDA · Q2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03504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B25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Under stress the budget flips: 71.6% discretionary vs 40.5% when healthy</a:t>
            </a:r>
            <a:endParaRPr lang="en-US" sz="2400" dirty="0"/>
          </a:p>
        </p:txBody>
      </p:sp>
      <p:pic>
        <p:nvPicPr>
          <p:cNvPr id="4" name="Image 0" descr="D:\BI10GroupYAPPERS\outputs\figures\deck_q2_gradien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554480"/>
            <a:ext cx="5440680" cy="3520440"/>
          </a:xfrm>
          <a:prstGeom prst="rect">
            <a:avLst/>
          </a:prstGeom>
        </p:spPr>
      </p:pic>
      <p:pic>
        <p:nvPicPr>
          <p:cNvPr id="5" name="Image 1" descr="D:\BI10GroupYAPPERS\outputs\figures\deck_q2_shift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199632" y="1554480"/>
            <a:ext cx="5440680" cy="352044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548640" y="5230368"/>
            <a:ext cx="3566160" cy="1005840"/>
          </a:xfrm>
          <a:prstGeom prst="roundRect">
            <a:avLst>
              <a:gd name="adj" fmla="val 7273"/>
            </a:avLst>
          </a:prstGeom>
          <a:solidFill>
            <a:srgbClr val="EEF4FB"/>
          </a:solidFill>
          <a:ln w="12700">
            <a:solidFill>
              <a:srgbClr val="EEF4FB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731520" y="5340096"/>
            <a:ext cx="1417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F5F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71.6%</a:t>
            </a:r>
            <a:endParaRPr lang="en-US" sz="2000" dirty="0"/>
          </a:p>
        </p:txBody>
      </p:sp>
      <p:sp>
        <p:nvSpPr>
          <p:cNvPr id="8" name="Text 4"/>
          <p:cNvSpPr txBox="1"/>
          <p:nvPr/>
        </p:nvSpPr>
        <p:spPr>
          <a:xfrm>
            <a:off x="2194560" y="5321808"/>
            <a:ext cx="1783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discretionary share in stressed months (FHS &lt; 40) vs 40.5% in healthy months (FHS ≥ 80)</a:t>
            </a:r>
            <a:endParaRPr lang="en-US" sz="1050" dirty="0"/>
          </a:p>
        </p:txBody>
      </p:sp>
      <p:sp>
        <p:nvSpPr>
          <p:cNvPr id="9" name="Shape 5"/>
          <p:cNvSpPr/>
          <p:nvPr/>
        </p:nvSpPr>
        <p:spPr>
          <a:xfrm>
            <a:off x="4297680" y="5230368"/>
            <a:ext cx="3566160" cy="1005840"/>
          </a:xfrm>
          <a:prstGeom prst="roundRect">
            <a:avLst>
              <a:gd name="adj" fmla="val 7273"/>
            </a:avLst>
          </a:prstGeom>
          <a:solidFill>
            <a:srgbClr val="EEF4FB"/>
          </a:solidFill>
          <a:ln w="12700">
            <a:solidFill>
              <a:srgbClr val="EEF4FB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4480560" y="5340096"/>
            <a:ext cx="1417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F5F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54%</a:t>
            </a:r>
            <a:endParaRPr lang="en-US" sz="2000" dirty="0"/>
          </a:p>
        </p:txBody>
      </p:sp>
      <p:sp>
        <p:nvSpPr>
          <p:cNvPr id="11" name="Text 7"/>
          <p:cNvSpPr txBox="1"/>
          <p:nvPr/>
        </p:nvSpPr>
        <p:spPr>
          <a:xfrm>
            <a:off x="5943600" y="5321808"/>
            <a:ext cx="1783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stressed-month value comes from purchases ≥ 10M VND — only 4.3% of transactions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046720" y="5230368"/>
            <a:ext cx="3566160" cy="1005840"/>
          </a:xfrm>
          <a:prstGeom prst="roundRect">
            <a:avLst>
              <a:gd name="adj" fmla="val 7273"/>
            </a:avLst>
          </a:prstGeom>
          <a:solidFill>
            <a:srgbClr val="EEF4FB"/>
          </a:solidFill>
          <a:ln w="12700">
            <a:solidFill>
              <a:srgbClr val="EEF4FB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8229600" y="5340096"/>
            <a:ext cx="1417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F5F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+22pp</a:t>
            </a:r>
            <a:endParaRPr lang="en-US" sz="2000" dirty="0"/>
          </a:p>
        </p:txBody>
      </p:sp>
      <p:sp>
        <p:nvSpPr>
          <p:cNvPr id="14" name="Text 10"/>
          <p:cNvSpPr txBox="1"/>
          <p:nvPr/>
        </p:nvSpPr>
        <p:spPr>
          <a:xfrm>
            <a:off x="9692640" y="5321808"/>
            <a:ext cx="1783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travel's share gain; the mix stays inverted even without travel (37% vs 60% essential)</a:t>
            </a:r>
            <a:endParaRPr lang="en-US" sz="1050" dirty="0"/>
          </a:p>
        </p:txBody>
      </p:sp>
      <p:sp>
        <p:nvSpPr>
          <p:cNvPr id="15" name="Text 11"/>
          <p:cNvSpPr txBox="1"/>
          <p:nvPr/>
        </p:nvSpPr>
        <p:spPr>
          <a:xfrm>
            <a:off x="548640" y="638251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5B6B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consumer_financial_health_engagement_2025 (10,992 consumer-months, 999 customers); category shift: transactions joined to consumer-months. Charts: notebooks/full_pipeline.ipynb.</a:t>
            </a:r>
            <a:endParaRPr lang="en-US" sz="850" dirty="0"/>
          </a:p>
        </p:txBody>
      </p:sp>
      <p:sp>
        <p:nvSpPr>
          <p:cNvPr id="16" name="Text 12"/>
          <p:cNvSpPr txBox="1"/>
          <p:nvPr/>
        </p:nvSpPr>
        <p:spPr>
          <a:xfrm>
            <a:off x="11183112" y="638251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F5F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TASK 1 · EDA · Q3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03504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B25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High-spend provinces trail the national digital share by at most 0.46pp</a:t>
            </a:r>
            <a:endParaRPr lang="en-US" sz="2400" dirty="0"/>
          </a:p>
        </p:txBody>
      </p:sp>
      <p:pic>
        <p:nvPicPr>
          <p:cNvPr id="4" name="Image 0" descr="D:\BI10GroupYAPPERS\outputs\figures\deck_q3_gap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600200"/>
            <a:ext cx="7498080" cy="45262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8275320" y="1600200"/>
            <a:ext cx="3364992" cy="4526280"/>
          </a:xfrm>
          <a:prstGeom prst="roundRect">
            <a:avLst>
              <a:gd name="adj" fmla="val 2717"/>
            </a:avLst>
          </a:prstGeom>
          <a:solidFill>
            <a:srgbClr val="EEF4FB"/>
          </a:solidFill>
          <a:ln w="12700">
            <a:solidFill>
              <a:srgbClr val="EEF4FB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503920" y="1783080"/>
            <a:ext cx="29077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5F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≤ 0.46pp</a:t>
            </a:r>
            <a:endParaRPr lang="en-US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8503920" y="2560320"/>
            <a:ext cx="29077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B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largest digital gap among high-spend provinces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8503920" y="3200400"/>
            <a:ext cx="2953512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qualify (spend &gt; median, digital &lt; 41.2%): Dong Nai 40.7%, Hung Yen 40.8%, Hai Phong 40.8%, Ha Noi 40.9%, Lam Dong 41.1%, Nghe An 41.2%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Channel mix: POS 58.9–59.3% vs 58.8% nationally; QR at par; the gap sits in e-commerce and app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Customers differ 8.6pp within provinces vs 3.9pp across all 34 → target the customer, not the region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market HCMC: 13.6% of spend at 41.3% digital; lagging: Quang Ngai 39.2% digital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638251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5B6B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consumer_transactions_2025 (1,852,394 transactions). Charts: notebooks/full_pipeline.ipynb.</a:t>
            </a:r>
            <a:endParaRPr lang="en-US" sz="850" dirty="0"/>
          </a:p>
        </p:txBody>
      </p:sp>
      <p:sp>
        <p:nvSpPr>
          <p:cNvPr id="10" name="Text 7"/>
          <p:cNvSpPr txBox="1"/>
          <p:nvPr/>
        </p:nvSpPr>
        <p:spPr>
          <a:xfrm>
            <a:off x="11183112" y="638251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F5F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TASK 1 · EDA · Q4 &amp; Q5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03504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B25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Fuel is the everyday habit, groceries the biggest basket; age barely moves health</a:t>
            </a:r>
            <a:endParaRPr lang="en-US" sz="2400" dirty="0"/>
          </a:p>
        </p:txBody>
      </p:sp>
      <p:pic>
        <p:nvPicPr>
          <p:cNvPr id="4" name="Image 0" descr="D:\BI10GroupYAPPERS\outputs\figures\deck_q4_categorie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554480"/>
            <a:ext cx="5440680" cy="3520440"/>
          </a:xfrm>
          <a:prstGeom prst="rect">
            <a:avLst/>
          </a:prstGeom>
        </p:spPr>
      </p:pic>
      <p:pic>
        <p:nvPicPr>
          <p:cNvPr id="5" name="Image 1" descr="D:\BI10GroupYAPPERS\outputs\figures\deck_q5_cohorts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199632" y="1554480"/>
            <a:ext cx="5440680" cy="352044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548640" y="5230368"/>
            <a:ext cx="3566160" cy="1005840"/>
          </a:xfrm>
          <a:prstGeom prst="roundRect">
            <a:avLst>
              <a:gd name="adj" fmla="val 7273"/>
            </a:avLst>
          </a:prstGeom>
          <a:solidFill>
            <a:srgbClr val="EEF4FB"/>
          </a:solidFill>
          <a:ln w="12700">
            <a:solidFill>
              <a:srgbClr val="EEF4FB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731520" y="5340096"/>
            <a:ext cx="1417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F5F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188,029</a:t>
            </a:r>
            <a:endParaRPr lang="en-US" sz="2000" dirty="0"/>
          </a:p>
        </p:txBody>
      </p:sp>
      <p:sp>
        <p:nvSpPr>
          <p:cNvPr id="8" name="Text 4"/>
          <p:cNvSpPr txBox="1"/>
          <p:nvPr/>
        </p:nvSpPr>
        <p:spPr>
          <a:xfrm>
            <a:off x="2194560" y="5321808"/>
            <a:ext cx="1783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Fuel &amp; transport transactions — top by count, 1.59M VND ticket, 17 buys per buyer-month</a:t>
            </a:r>
            <a:endParaRPr lang="en-US" sz="1050" dirty="0"/>
          </a:p>
        </p:txBody>
      </p:sp>
      <p:sp>
        <p:nvSpPr>
          <p:cNvPr id="9" name="Shape 5"/>
          <p:cNvSpPr/>
          <p:nvPr/>
        </p:nvSpPr>
        <p:spPr>
          <a:xfrm>
            <a:off x="4297680" y="5230368"/>
            <a:ext cx="3566160" cy="1005840"/>
          </a:xfrm>
          <a:prstGeom prst="roundRect">
            <a:avLst>
              <a:gd name="adj" fmla="val 7273"/>
            </a:avLst>
          </a:prstGeom>
          <a:solidFill>
            <a:srgbClr val="EEF4FB"/>
          </a:solidFill>
          <a:ln w="12700">
            <a:solidFill>
              <a:srgbClr val="EEF4FB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4480560" y="5340096"/>
            <a:ext cx="1417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F5F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2.92M</a:t>
            </a:r>
            <a:endParaRPr lang="en-US" sz="2000" dirty="0"/>
          </a:p>
        </p:txBody>
      </p:sp>
      <p:sp>
        <p:nvSpPr>
          <p:cNvPr id="11" name="Text 7"/>
          <p:cNvSpPr txBox="1"/>
          <p:nvPr/>
        </p:nvSpPr>
        <p:spPr>
          <a:xfrm>
            <a:off x="5943600" y="5321808"/>
            <a:ext cx="1783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VND grocery ticket — top by spend (513.8B), 1.8× fuel. Lagging: travel (57,956 txns), online groceries (87.1B)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046720" y="5230368"/>
            <a:ext cx="3566160" cy="1005840"/>
          </a:xfrm>
          <a:prstGeom prst="roundRect">
            <a:avLst>
              <a:gd name="adj" fmla="val 7273"/>
            </a:avLst>
          </a:prstGeom>
          <a:solidFill>
            <a:srgbClr val="EEF4FB"/>
          </a:solidFill>
          <a:ln w="12700">
            <a:solidFill>
              <a:srgbClr val="EEF4FB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8229600" y="5340096"/>
            <a:ext cx="1417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F5F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65.8</a:t>
            </a:r>
            <a:endParaRPr lang="en-US" sz="2000" dirty="0"/>
          </a:p>
        </p:txBody>
      </p:sp>
      <p:sp>
        <p:nvSpPr>
          <p:cNvPr id="14" name="Text 10"/>
          <p:cNvSpPr txBox="1"/>
          <p:nvPr/>
        </p:nvSpPr>
        <p:spPr>
          <a:xfrm>
            <a:off x="9692640" y="5321808"/>
            <a:ext cx="1783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lowest FHS: 25–34, active (178.7 txns/mo); spend/income 0.716 vs 0.700, essential 0.468 vs 0.481</a:t>
            </a:r>
            <a:endParaRPr lang="en-US" sz="1050" dirty="0"/>
          </a:p>
        </p:txBody>
      </p:sp>
      <p:sp>
        <p:nvSpPr>
          <p:cNvPr id="15" name="Text 11"/>
          <p:cNvSpPr txBox="1"/>
          <p:nvPr/>
        </p:nvSpPr>
        <p:spPr>
          <a:xfrm>
            <a:off x="548640" y="638251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5B6B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consumer_transactions_2025 (1,852,394 transactions); cohorts: consumer_financial_health_engagement_2025 (10,992 consumer-months, 999 customers). Charts: notebooks/full_pipeline.ipynb.</a:t>
            </a:r>
            <a:endParaRPr lang="en-US" sz="850" dirty="0"/>
          </a:p>
        </p:txBody>
      </p:sp>
      <p:sp>
        <p:nvSpPr>
          <p:cNvPr id="16" name="Text 12"/>
          <p:cNvSpPr txBox="1"/>
          <p:nvPr/>
        </p:nvSpPr>
        <p:spPr>
          <a:xfrm>
            <a:off x="11183112" y="638251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F5F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TASK 2 · FINANCIAL HEALTH · D1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03504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B25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one is stressed on average, yet 87% of customers dip below 60 at least once</a:t>
            </a:r>
            <a:endParaRPr lang="en-US" sz="2400" dirty="0"/>
          </a:p>
        </p:txBody>
      </p:sp>
      <p:pic>
        <p:nvPicPr>
          <p:cNvPr id="4" name="Image 0" descr="D:\BI10GroupYAPPERS\outputs\figures\deck_d1_distribution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600200"/>
            <a:ext cx="7498080" cy="45262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8275320" y="1600200"/>
            <a:ext cx="3364992" cy="4526280"/>
          </a:xfrm>
          <a:prstGeom prst="roundRect">
            <a:avLst>
              <a:gd name="adj" fmla="val 2717"/>
            </a:avLst>
          </a:prstGeom>
          <a:solidFill>
            <a:srgbClr val="EEF4FB"/>
          </a:solidFill>
          <a:ln w="12700">
            <a:solidFill>
              <a:srgbClr val="EEF4FB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503920" y="1783080"/>
            <a:ext cx="29077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5F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87%</a:t>
            </a:r>
            <a:endParaRPr lang="en-US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8503920" y="2560320"/>
            <a:ext cx="29077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B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customers fall below 60 in at least one month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8503920" y="3200400"/>
            <a:ext cx="2953512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Customer averages: mean 66.3, IQR 63.4–69.3 — a tight band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Months are 2× more spread: 95 stressed months (0.9%) across 70 customers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January + December hold 46 of 95 stressed months → trigger help on the month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638251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5B6B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consumer_financial_health_engagement_2025 (10,992 consumer-months, 999 customers). Charts: notebooks/full_pipeline.ipynb.</a:t>
            </a:r>
            <a:endParaRPr lang="en-US" sz="850" dirty="0"/>
          </a:p>
        </p:txBody>
      </p:sp>
      <p:sp>
        <p:nvSpPr>
          <p:cNvPr id="10" name="Text 7"/>
          <p:cNvSpPr txBox="1"/>
          <p:nvPr/>
        </p:nvSpPr>
        <p:spPr>
          <a:xfrm>
            <a:off x="11183112" y="638251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F5F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TASK 2 · FINANCIAL HEALTH · D2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03504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B25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Low health is an overspending story: it breaks once spend passes income</a:t>
            </a:r>
            <a:endParaRPr lang="en-US" sz="2400" dirty="0"/>
          </a:p>
        </p:txBody>
      </p:sp>
      <p:pic>
        <p:nvPicPr>
          <p:cNvPr id="4" name="Image 0" descr="D:\BI10GroupYAPPERS\outputs\figures\deck_d2_threshol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554480"/>
            <a:ext cx="5440680" cy="3520440"/>
          </a:xfrm>
          <a:prstGeom prst="rect">
            <a:avLst/>
          </a:prstGeom>
        </p:spPr>
      </p:pic>
      <p:pic>
        <p:nvPicPr>
          <p:cNvPr id="5" name="Image 1" descr="D:\BI10GroupYAPPERS\outputs\figures\deck_d2_drivers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199632" y="1554480"/>
            <a:ext cx="5440680" cy="352044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548640" y="5230368"/>
            <a:ext cx="3566160" cy="1005840"/>
          </a:xfrm>
          <a:prstGeom prst="roundRect">
            <a:avLst>
              <a:gd name="adj" fmla="val 7273"/>
            </a:avLst>
          </a:prstGeom>
          <a:solidFill>
            <a:srgbClr val="EEF4FB"/>
          </a:solidFill>
          <a:ln w="12700">
            <a:solidFill>
              <a:srgbClr val="EEF4FB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731520" y="5340096"/>
            <a:ext cx="1417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F5F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 −0.90</a:t>
            </a:r>
            <a:endParaRPr lang="en-US" sz="2000" dirty="0"/>
          </a:p>
        </p:txBody>
      </p:sp>
      <p:sp>
        <p:nvSpPr>
          <p:cNvPr id="8" name="Text 4"/>
          <p:cNvSpPr txBox="1"/>
          <p:nvPr/>
        </p:nvSpPr>
        <p:spPr>
          <a:xfrm>
            <a:off x="2194560" y="5321808"/>
            <a:ext cx="1783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spend-to-income; with utilization (−0.86) it explains 82% of the health score</a:t>
            </a:r>
            <a:endParaRPr lang="en-US" sz="1050" dirty="0"/>
          </a:p>
        </p:txBody>
      </p:sp>
      <p:sp>
        <p:nvSpPr>
          <p:cNvPr id="9" name="Shape 5"/>
          <p:cNvSpPr/>
          <p:nvPr/>
        </p:nvSpPr>
        <p:spPr>
          <a:xfrm>
            <a:off x="4297680" y="5230368"/>
            <a:ext cx="3566160" cy="1005840"/>
          </a:xfrm>
          <a:prstGeom prst="roundRect">
            <a:avLst>
              <a:gd name="adj" fmla="val 7273"/>
            </a:avLst>
          </a:prstGeom>
          <a:solidFill>
            <a:srgbClr val="EEF4FB"/>
          </a:solidFill>
          <a:ln w="12700">
            <a:solidFill>
              <a:srgbClr val="EEF4FB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4480560" y="5340096"/>
            <a:ext cx="1417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F5F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98%</a:t>
            </a:r>
            <a:endParaRPr lang="en-US" sz="2000" dirty="0"/>
          </a:p>
        </p:txBody>
      </p:sp>
      <p:sp>
        <p:nvSpPr>
          <p:cNvPr id="11" name="Text 7"/>
          <p:cNvSpPr txBox="1"/>
          <p:nvPr/>
        </p:nvSpPr>
        <p:spPr>
          <a:xfrm>
            <a:off x="5943600" y="5321808"/>
            <a:ext cx="1783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stressed months spend more than income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046720" y="5230368"/>
            <a:ext cx="3566160" cy="1005840"/>
          </a:xfrm>
          <a:prstGeom prst="roundRect">
            <a:avLst>
              <a:gd name="adj" fmla="val 7273"/>
            </a:avLst>
          </a:prstGeom>
          <a:solidFill>
            <a:srgbClr val="EEF4FB"/>
          </a:solidFill>
          <a:ln w="12700">
            <a:solidFill>
              <a:srgbClr val="EEF4FB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8229600" y="5340096"/>
            <a:ext cx="1417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F5F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93%</a:t>
            </a:r>
            <a:endParaRPr lang="en-US" sz="2000" dirty="0"/>
          </a:p>
        </p:txBody>
      </p:sp>
      <p:sp>
        <p:nvSpPr>
          <p:cNvPr id="14" name="Text 10"/>
          <p:cNvSpPr txBox="1"/>
          <p:nvPr/>
        </p:nvSpPr>
        <p:spPr>
          <a:xfrm>
            <a:off x="9692640" y="5321808"/>
            <a:ext cx="1783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top-quintile months fall below 60 — none in the bottom two quintiles</a:t>
            </a:r>
            <a:endParaRPr lang="en-US" sz="1050" dirty="0"/>
          </a:p>
        </p:txBody>
      </p:sp>
      <p:sp>
        <p:nvSpPr>
          <p:cNvPr id="15" name="Text 11"/>
          <p:cNvSpPr txBox="1"/>
          <p:nvPr/>
        </p:nvSpPr>
        <p:spPr>
          <a:xfrm>
            <a:off x="548640" y="638251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5B6B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consumer_financial_health_engagement_2025 (10,992 consumer-months, 999 customers); category mix: transactions joined to consumer-months. Charts: notebooks/full_pipeline.ipynb.</a:t>
            </a:r>
            <a:endParaRPr lang="en-US" sz="850" dirty="0"/>
          </a:p>
        </p:txBody>
      </p:sp>
      <p:sp>
        <p:nvSpPr>
          <p:cNvPr id="16" name="Text 12"/>
          <p:cNvSpPr txBox="1"/>
          <p:nvPr/>
        </p:nvSpPr>
        <p:spPr>
          <a:xfrm>
            <a:off x="11183112" y="638251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F5F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TASK 2 · FINANCIAL HEALTH · D3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03504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B25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Occupation and province gaps are really spending gaps; age is flat</a:t>
            </a:r>
            <a:endParaRPr lang="en-US" sz="2400" dirty="0"/>
          </a:p>
        </p:txBody>
      </p:sp>
      <p:pic>
        <p:nvPicPr>
          <p:cNvPr id="4" name="Image 0" descr="D:\BI10GroupYAPPERS\outputs\figures\deck_d3_sprea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554480"/>
            <a:ext cx="11091672" cy="352044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5230368"/>
            <a:ext cx="3566160" cy="1005840"/>
          </a:xfrm>
          <a:prstGeom prst="roundRect">
            <a:avLst>
              <a:gd name="adj" fmla="val 7273"/>
            </a:avLst>
          </a:prstGeom>
          <a:solidFill>
            <a:srgbClr val="EEF4FB"/>
          </a:solidFill>
          <a:ln w="12700">
            <a:solidFill>
              <a:srgbClr val="EEF4FB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31520" y="5340096"/>
            <a:ext cx="1417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F5F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6.2 → 1.3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2194560" y="5321808"/>
            <a:ext cx="1783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points: occupation gap once spend-to-income is held constant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4297680" y="5230368"/>
            <a:ext cx="3566160" cy="1005840"/>
          </a:xfrm>
          <a:prstGeom prst="roundRect">
            <a:avLst>
              <a:gd name="adj" fmla="val 7273"/>
            </a:avLst>
          </a:prstGeom>
          <a:solidFill>
            <a:srgbClr val="EEF4FB"/>
          </a:solidFill>
          <a:ln w="12700">
            <a:solidFill>
              <a:srgbClr val="EEF4FB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480560" y="5340096"/>
            <a:ext cx="1417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F5F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4.8 → 1.6</a:t>
            </a:r>
            <a:endParaRPr lang="en-US" sz="2000" dirty="0"/>
          </a:p>
        </p:txBody>
      </p:sp>
      <p:sp>
        <p:nvSpPr>
          <p:cNvPr id="10" name="Text 7"/>
          <p:cNvSpPr txBox="1"/>
          <p:nvPr/>
        </p:nvSpPr>
        <p:spPr>
          <a:xfrm>
            <a:off x="5943600" y="5321808"/>
            <a:ext cx="1783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points: province gap (Ha Noi 67.8 top, Thai Nguyen 63.0 bottom)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8046720" y="5230368"/>
            <a:ext cx="3566160" cy="1005840"/>
          </a:xfrm>
          <a:prstGeom prst="roundRect">
            <a:avLst>
              <a:gd name="adj" fmla="val 7273"/>
            </a:avLst>
          </a:prstGeom>
          <a:solidFill>
            <a:srgbClr val="EEF4FB"/>
          </a:solidFill>
          <a:ln w="12700">
            <a:solidFill>
              <a:srgbClr val="EEF4FB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229600" y="5340096"/>
            <a:ext cx="1417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F5F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1.2</a:t>
            </a:r>
            <a:endParaRPr lang="en-US" sz="2000" dirty="0"/>
          </a:p>
        </p:txBody>
      </p:sp>
      <p:sp>
        <p:nvSpPr>
          <p:cNvPr id="13" name="Text 10"/>
          <p:cNvSpPr txBox="1"/>
          <p:nvPr/>
        </p:nvSpPr>
        <p:spPr>
          <a:xfrm>
            <a:off x="9692640" y="5321808"/>
            <a:ext cx="1783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points across six age cohorts — not significant (p = 0.13)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548640" y="638251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5B6B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consumer_financial_health_engagement_2025 (10,992 consumer-months, 999 customers) (customer level). Charts: notebooks/full_pipeline.ipynb.</a:t>
            </a:r>
            <a:endParaRPr lang="en-US" sz="850" dirty="0"/>
          </a:p>
        </p:txBody>
      </p:sp>
      <p:sp>
        <p:nvSpPr>
          <p:cNvPr id="15" name="Text 12"/>
          <p:cNvSpPr txBox="1"/>
          <p:nvPr/>
        </p:nvSpPr>
        <p:spPr>
          <a:xfrm>
            <a:off x="11183112" y="638251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F5F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TASK 2 · FINANCIAL HEALTH · D4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03504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B25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43 active customers carry 52% of stress months — with big late-night purchases</a:t>
            </a:r>
            <a:endParaRPr lang="en-US" sz="2400" dirty="0"/>
          </a:p>
        </p:txBody>
      </p:sp>
      <p:pic>
        <p:nvPicPr>
          <p:cNvPr id="4" name="Image 0" descr="D:\BI10GroupYAPPERS\outputs\figures\deck_d4_latenigh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600200"/>
            <a:ext cx="7498080" cy="45262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8275320" y="1600200"/>
            <a:ext cx="3364992" cy="4526280"/>
          </a:xfrm>
          <a:prstGeom prst="roundRect">
            <a:avLst>
              <a:gd name="adj" fmla="val 2717"/>
            </a:avLst>
          </a:prstGeom>
          <a:solidFill>
            <a:srgbClr val="EEF4FB"/>
          </a:solidFill>
          <a:ln w="12700">
            <a:solidFill>
              <a:srgbClr val="EEF4FB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503920" y="1783080"/>
            <a:ext cx="29077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5F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52%</a:t>
            </a:r>
            <a:endParaRPr lang="en-US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8503920" y="2560320"/>
            <a:ext cx="29077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B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all stress months belong to 43 highly engaged customers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8503920" y="3200400"/>
            <a:ext cx="2953512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Rule: FHS &lt; 40 AND engagement ≥ 81.4 (top 25% of months); stable at top 30% / 20%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Profile: spend 1.89× income, utilization 0.55, online share 2.3× average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23.5% of stressed spend value lands at 22–23h (vs 8.3%) → opt-in alert before 22:00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638251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5B6B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consumer_financial_health_engagement_2025 (10,992 consumer-months, 999 customers); timing: transactions joined to consumer-months. Charts: notebooks/full_pipeline.ipynb.</a:t>
            </a:r>
            <a:endParaRPr lang="en-US" sz="850" dirty="0"/>
          </a:p>
        </p:txBody>
      </p:sp>
      <p:sp>
        <p:nvSpPr>
          <p:cNvPr id="10" name="Text 7"/>
          <p:cNvSpPr txBox="1"/>
          <p:nvPr/>
        </p:nvSpPr>
        <p:spPr>
          <a:xfrm>
            <a:off x="11183112" y="638251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F5F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TASK 3 · ENGAGEMENT · D1–D2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03504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B25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Engagement is saturated; the whole low tail is 91 one-off customers</a:t>
            </a:r>
            <a:endParaRPr lang="en-US" sz="2400" dirty="0"/>
          </a:p>
        </p:txBody>
      </p:sp>
      <p:pic>
        <p:nvPicPr>
          <p:cNvPr id="4" name="Image 0" descr="D:\BI10GroupYAPPERS\outputs\figures\deck_t3_engagemen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554480"/>
            <a:ext cx="5440680" cy="3520440"/>
          </a:xfrm>
          <a:prstGeom prst="rect">
            <a:avLst/>
          </a:prstGeom>
        </p:spPr>
      </p:pic>
      <p:pic>
        <p:nvPicPr>
          <p:cNvPr id="5" name="Image 1" descr="D:\BI10GroupYAPPERS\outputs\figures\deck_t3_channels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199632" y="1554480"/>
            <a:ext cx="5440680" cy="352044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548640" y="5230368"/>
            <a:ext cx="3566160" cy="1005840"/>
          </a:xfrm>
          <a:prstGeom prst="roundRect">
            <a:avLst>
              <a:gd name="adj" fmla="val 7273"/>
            </a:avLst>
          </a:prstGeom>
          <a:solidFill>
            <a:srgbClr val="EEF4FB"/>
          </a:solidFill>
          <a:ln w="12700">
            <a:solidFill>
              <a:srgbClr val="EEF4FB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731520" y="5340096"/>
            <a:ext cx="1417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F5F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91%</a:t>
            </a:r>
            <a:endParaRPr lang="en-US" sz="2000" dirty="0"/>
          </a:p>
        </p:txBody>
      </p:sp>
      <p:sp>
        <p:nvSpPr>
          <p:cNvPr id="8" name="Text 4"/>
          <p:cNvSpPr txBox="1"/>
          <p:nvPr/>
        </p:nvSpPr>
        <p:spPr>
          <a:xfrm>
            <a:off x="2194560" y="5321808"/>
            <a:ext cx="1783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customers are High or Very high (1.0 / 8.0 / 66.9 / 24.1% by band)</a:t>
            </a:r>
            <a:endParaRPr lang="en-US" sz="1050" dirty="0"/>
          </a:p>
        </p:txBody>
      </p:sp>
      <p:sp>
        <p:nvSpPr>
          <p:cNvPr id="9" name="Shape 5"/>
          <p:cNvSpPr/>
          <p:nvPr/>
        </p:nvSpPr>
        <p:spPr>
          <a:xfrm>
            <a:off x="4297680" y="5230368"/>
            <a:ext cx="3566160" cy="1005840"/>
          </a:xfrm>
          <a:prstGeom prst="roundRect">
            <a:avLst>
              <a:gd name="adj" fmla="val 7273"/>
            </a:avLst>
          </a:prstGeom>
          <a:solidFill>
            <a:srgbClr val="EEF4FB"/>
          </a:solidFill>
          <a:ln w="12700">
            <a:solidFill>
              <a:srgbClr val="EEF4FB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4480560" y="5340096"/>
            <a:ext cx="1417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F5F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91</a:t>
            </a:r>
            <a:endParaRPr lang="en-US" sz="2000" dirty="0"/>
          </a:p>
        </p:txBody>
      </p:sp>
      <p:sp>
        <p:nvSpPr>
          <p:cNvPr id="11" name="Text 7"/>
          <p:cNvSpPr txBox="1"/>
          <p:nvPr/>
        </p:nvSpPr>
        <p:spPr>
          <a:xfrm>
            <a:off x="5943600" y="5321808"/>
            <a:ext cx="1783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customers seen on only 1–2 days are the entire below-High tail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046720" y="5230368"/>
            <a:ext cx="3566160" cy="1005840"/>
          </a:xfrm>
          <a:prstGeom prst="roundRect">
            <a:avLst>
              <a:gd name="adj" fmla="val 7273"/>
            </a:avLst>
          </a:prstGeom>
          <a:solidFill>
            <a:srgbClr val="EEF4FB"/>
          </a:solidFill>
          <a:ln w="12700">
            <a:solidFill>
              <a:srgbClr val="EEF4FB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8229600" y="5340096"/>
            <a:ext cx="1417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F5F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21.0%</a:t>
            </a:r>
            <a:endParaRPr lang="en-US" sz="2000" dirty="0"/>
          </a:p>
        </p:txBody>
      </p:sp>
      <p:sp>
        <p:nvSpPr>
          <p:cNvPr id="14" name="Text 10"/>
          <p:cNvSpPr txBox="1"/>
          <p:nvPr/>
        </p:nvSpPr>
        <p:spPr>
          <a:xfrm>
            <a:off x="9692640" y="5321808"/>
            <a:ext cx="1783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average online spend share; 925 of 999 customers use all five channels</a:t>
            </a:r>
            <a:endParaRPr lang="en-US" sz="1050" dirty="0"/>
          </a:p>
        </p:txBody>
      </p:sp>
      <p:sp>
        <p:nvSpPr>
          <p:cNvPr id="15" name="Text 11"/>
          <p:cNvSpPr txBox="1"/>
          <p:nvPr/>
        </p:nvSpPr>
        <p:spPr>
          <a:xfrm>
            <a:off x="548640" y="638251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5B6B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consumer_financial_health_engagement_2025 (10,992 consumer-months, 999 customers); channels: consumer_transactions_2025 (1,852,394 transactions). Charts: notebooks/full_pipeline.ipynb.</a:t>
            </a:r>
            <a:endParaRPr lang="en-US" sz="850" dirty="0"/>
          </a:p>
        </p:txBody>
      </p:sp>
      <p:sp>
        <p:nvSpPr>
          <p:cNvPr id="16" name="Text 12"/>
          <p:cNvSpPr txBox="1"/>
          <p:nvPr/>
        </p:nvSpPr>
        <p:spPr>
          <a:xfrm>
            <a:off x="11183112" y="638251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F5F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TASK 3 · ENGAGEMENT · D3–D4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03504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B25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Breadth and regular activity — not recency — separate engaged customers</a:t>
            </a:r>
            <a:endParaRPr lang="en-US" sz="2400" dirty="0"/>
          </a:p>
        </p:txBody>
      </p:sp>
      <p:pic>
        <p:nvPicPr>
          <p:cNvPr id="4" name="Image 0" descr="D:\BI10GroupYAPPERS\outputs\figures\deck_t3_diversity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554480"/>
            <a:ext cx="5440680" cy="3520440"/>
          </a:xfrm>
          <a:prstGeom prst="rect">
            <a:avLst/>
          </a:prstGeom>
        </p:spPr>
      </p:pic>
      <p:pic>
        <p:nvPicPr>
          <p:cNvPr id="5" name="Image 1" descr="D:\BI10GroupYAPPERS\outputs\figures\deck_t3_heatmap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199632" y="1554480"/>
            <a:ext cx="5440680" cy="352044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548640" y="5230368"/>
            <a:ext cx="3566160" cy="1005840"/>
          </a:xfrm>
          <a:prstGeom prst="roundRect">
            <a:avLst>
              <a:gd name="adj" fmla="val 7273"/>
            </a:avLst>
          </a:prstGeom>
          <a:solidFill>
            <a:srgbClr val="EEF4FB"/>
          </a:solidFill>
          <a:ln w="12700">
            <a:solidFill>
              <a:srgbClr val="EEF4FB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731520" y="5340096"/>
            <a:ext cx="1417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F5F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2–14</a:t>
            </a:r>
            <a:endParaRPr lang="en-US" sz="2000" dirty="0"/>
          </a:p>
        </p:txBody>
      </p:sp>
      <p:sp>
        <p:nvSpPr>
          <p:cNvPr id="8" name="Text 4"/>
          <p:cNvSpPr txBox="1"/>
          <p:nvPr/>
        </p:nvSpPr>
        <p:spPr>
          <a:xfrm>
            <a:off x="2194560" y="5321808"/>
            <a:ext cx="1783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categories per month; r +0.81 with engagement even within full-year customers</a:t>
            </a:r>
            <a:endParaRPr lang="en-US" sz="1050" dirty="0"/>
          </a:p>
        </p:txBody>
      </p:sp>
      <p:sp>
        <p:nvSpPr>
          <p:cNvPr id="9" name="Shape 5"/>
          <p:cNvSpPr/>
          <p:nvPr/>
        </p:nvSpPr>
        <p:spPr>
          <a:xfrm>
            <a:off x="4297680" y="5230368"/>
            <a:ext cx="3566160" cy="1005840"/>
          </a:xfrm>
          <a:prstGeom prst="roundRect">
            <a:avLst>
              <a:gd name="adj" fmla="val 7273"/>
            </a:avLst>
          </a:prstGeom>
          <a:solidFill>
            <a:srgbClr val="EEF4FB"/>
          </a:solidFill>
          <a:ln w="12700">
            <a:solidFill>
              <a:srgbClr val="EEF4FB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4480560" y="5340096"/>
            <a:ext cx="1417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F5F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 +0.80</a:t>
            </a:r>
            <a:endParaRPr lang="en-US" sz="2000" dirty="0"/>
          </a:p>
        </p:txBody>
      </p:sp>
      <p:sp>
        <p:nvSpPr>
          <p:cNvPr id="11" name="Text 7"/>
          <p:cNvSpPr txBox="1"/>
          <p:nvPr/>
        </p:nvSpPr>
        <p:spPr>
          <a:xfrm>
            <a:off x="5943600" y="5321808"/>
            <a:ext cx="1783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active days (range 1–31, median 30) — ahead of count (+0.76) and recency (−0.58; range 0 to 30 days)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046720" y="5230368"/>
            <a:ext cx="3566160" cy="1005840"/>
          </a:xfrm>
          <a:prstGeom prst="roundRect">
            <a:avLst>
              <a:gd name="adj" fmla="val 7273"/>
            </a:avLst>
          </a:prstGeom>
          <a:solidFill>
            <a:srgbClr val="EEF4FB"/>
          </a:solidFill>
          <a:ln w="12700">
            <a:solidFill>
              <a:srgbClr val="EEF4FB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8229600" y="5340096"/>
            <a:ext cx="1417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F5F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≤ 55</a:t>
            </a:r>
            <a:endParaRPr lang="en-US" sz="2000" dirty="0"/>
          </a:p>
        </p:txBody>
      </p:sp>
      <p:sp>
        <p:nvSpPr>
          <p:cNvPr id="14" name="Text 10"/>
          <p:cNvSpPr txBox="1"/>
          <p:nvPr/>
        </p:nvSpPr>
        <p:spPr>
          <a:xfrm>
            <a:off x="9692640" y="5321808"/>
            <a:ext cx="1783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engagement whenever a customer is active on only 1–5 days, whatever the recency</a:t>
            </a:r>
            <a:endParaRPr lang="en-US" sz="1050" dirty="0"/>
          </a:p>
        </p:txBody>
      </p:sp>
      <p:sp>
        <p:nvSpPr>
          <p:cNvPr id="15" name="Text 11"/>
          <p:cNvSpPr txBox="1"/>
          <p:nvPr/>
        </p:nvSpPr>
        <p:spPr>
          <a:xfrm>
            <a:off x="548640" y="638251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5B6B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consumer_financial_health_engagement_2025 (10,992 consumer-months, 999 customers). Charts: notebooks/full_pipeline.ipynb.</a:t>
            </a:r>
            <a:endParaRPr lang="en-US" sz="850" dirty="0"/>
          </a:p>
        </p:txBody>
      </p:sp>
      <p:sp>
        <p:nvSpPr>
          <p:cNvPr id="16" name="Text 12"/>
          <p:cNvSpPr txBox="1"/>
          <p:nvPr/>
        </p:nvSpPr>
        <p:spPr>
          <a:xfrm>
            <a:off x="11183112" y="638251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F5F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TASK 3 · ENGAGEMENT · D5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03504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B25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 healthy customers used their card on only 1–2 days all year</a:t>
            </a:r>
            <a:endParaRPr lang="en-US" sz="2400" dirty="0"/>
          </a:p>
        </p:txBody>
      </p:sp>
      <p:pic>
        <p:nvPicPr>
          <p:cNvPr id="4" name="Image 0" descr="D:\BI10GroupYAPPERS\outputs\figures\deck_t3_cutoff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600200"/>
            <a:ext cx="7498080" cy="45262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8275320" y="1600200"/>
            <a:ext cx="3364992" cy="4526280"/>
          </a:xfrm>
          <a:prstGeom prst="roundRect">
            <a:avLst>
              <a:gd name="adj" fmla="val 2717"/>
            </a:avLst>
          </a:prstGeom>
          <a:solidFill>
            <a:srgbClr val="EEF4FB"/>
          </a:solidFill>
          <a:ln w="12700">
            <a:solidFill>
              <a:srgbClr val="EEF4FB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503920" y="1783080"/>
            <a:ext cx="29077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5F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</a:t>
            </a:r>
            <a:endParaRPr lang="en-US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8503920" y="2560320"/>
            <a:ext cx="29077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B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customers (2.5%): FHS ≥ 70 and engagement &lt; 70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8503920" y="3200400"/>
            <a:ext cx="2953512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Cutoff 70 sits in an empty gap: 25 at any cutoff 60–70; looser (72.5 / 75) pulls in active users (39 / 63); stricter FHS ≥ 75 leaves 9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Profile: 2 vs 27 active days, 10 vs 159 transactions a month, 61% vs 24% online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 silent since Jan–Jul → win back everyday use, not budgeting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638251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5B6B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consumer_financial_health_engagement_2025 (10,992 consumer-months, 999 customers). Charts: notebooks/full_pipeline.ipynb.</a:t>
            </a:r>
            <a:endParaRPr lang="en-US" sz="850" dirty="0"/>
          </a:p>
        </p:txBody>
      </p:sp>
      <p:sp>
        <p:nvSpPr>
          <p:cNvPr id="10" name="Text 7"/>
          <p:cNvSpPr txBox="1"/>
          <p:nvPr/>
        </p:nvSpPr>
        <p:spPr>
          <a:xfrm>
            <a:off x="11183112" y="638251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F5F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TASK 4 · SEGMENTATION · METHOD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03504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B25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Clustering 8 behavioural features yields four segments along three business axes</a:t>
            </a:r>
            <a:endParaRPr lang="en-US" sz="2400" dirty="0"/>
          </a:p>
        </p:txBody>
      </p:sp>
      <p:pic>
        <p:nvPicPr>
          <p:cNvPr id="4" name="Image 0" descr="D:\BI10GroupYAPPERS\outputs\figures\deck_t4_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600200"/>
            <a:ext cx="7498080" cy="45262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8275320" y="1600200"/>
            <a:ext cx="3364992" cy="4526280"/>
          </a:xfrm>
          <a:prstGeom prst="roundRect">
            <a:avLst>
              <a:gd name="adj" fmla="val 2717"/>
            </a:avLst>
          </a:prstGeom>
          <a:solidFill>
            <a:srgbClr val="EEF4FB"/>
          </a:solidFill>
          <a:ln w="12700">
            <a:solidFill>
              <a:srgbClr val="EEF4FB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503920" y="1783080"/>
            <a:ext cx="29077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5F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 = 4</a:t>
            </a:r>
            <a:endParaRPr lang="en-US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8503920" y="2560320"/>
            <a:ext cx="29077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B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k-means on 8 z-scaled behavioural features, 999 customers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8503920" y="3200400"/>
            <a:ext cx="2953512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Inputs: 4 ratios (spend/income, utilization, discretionary, online), spending volatility, FHS, engagement score, transactions/month; no raw VND, no demographics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 = 2 splits one-off users, k = 3 adds health, k = 4 adds activity; k ≥ 5 only subdivides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Coverage 999 / 999 incl. 7 minors; preprocessed dataset task4_features.csv + dictionary in the ZIP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638251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5B6B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team k-means (k = 4) on 8 z-scaled behavioural features, 999 customers. Charts: notebooks/full_pipeline.ipynb.</a:t>
            </a:r>
            <a:endParaRPr lang="en-US" sz="850" dirty="0"/>
          </a:p>
        </p:txBody>
      </p:sp>
      <p:sp>
        <p:nvSpPr>
          <p:cNvPr id="10" name="Text 7"/>
          <p:cNvSpPr txBox="1"/>
          <p:nvPr/>
        </p:nvSpPr>
        <p:spPr>
          <a:xfrm>
            <a:off x="11183112" y="638251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F5F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TASK 4 · SEGMENTATION · PROFILES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03504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B25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segments, four different jobs for the product team</a:t>
            </a:r>
            <a:endParaRPr lang="en-US" sz="2400" dirty="0"/>
          </a:p>
        </p:txBody>
      </p:sp>
      <p:pic>
        <p:nvPicPr>
          <p:cNvPr id="4" name="Image 0" descr="D:\BI10GroupYAPPERS\outputs\figures\deck_t4_profil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554480"/>
            <a:ext cx="7223760" cy="466344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8046720" y="1554480"/>
            <a:ext cx="3593592" cy="1033272"/>
          </a:xfrm>
          <a:prstGeom prst="roundRect">
            <a:avLst>
              <a:gd name="adj" fmla="val 7080"/>
            </a:avLst>
          </a:prstGeom>
          <a:solidFill>
            <a:srgbClr val="EEF4FB"/>
          </a:solidFill>
          <a:ln w="12700">
            <a:solidFill>
              <a:srgbClr val="EEF4FB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229600" y="1627632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25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Healthy &amp; Engaged</a:t>
            </a:r>
            <a:endParaRPr lang="en-US" sz="1250" dirty="0"/>
          </a:p>
        </p:txBody>
      </p:sp>
      <p:sp>
        <p:nvSpPr>
          <p:cNvPr id="7" name="Text 4"/>
          <p:cNvSpPr txBox="1"/>
          <p:nvPr/>
        </p:nvSpPr>
        <p:spPr>
          <a:xfrm>
            <a:off x="10332720" y="1627632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F5F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351 · 35.1%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8229600" y="1965960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Best health, lowest spend/income → savings &amp; opt-in offers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8046720" y="2724912"/>
            <a:ext cx="3593592" cy="1033272"/>
          </a:xfrm>
          <a:prstGeom prst="roundRect">
            <a:avLst>
              <a:gd name="adj" fmla="val 7080"/>
            </a:avLst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229600" y="2798064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Stretched &amp; Engaged</a:t>
            </a:r>
            <a:endParaRPr lang="en-US" sz="1250" dirty="0"/>
          </a:p>
        </p:txBody>
      </p:sp>
      <p:sp>
        <p:nvSpPr>
          <p:cNvPr id="11" name="Text 8"/>
          <p:cNvSpPr txBox="1"/>
          <p:nvPr/>
        </p:nvSpPr>
        <p:spPr>
          <a:xfrm>
            <a:off x="10332720" y="2798064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A9C6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302 · 30.2%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8229600" y="3136392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Spend/income 0.84, 20% had a stress month → budgeting + alerts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8046720" y="3895344"/>
            <a:ext cx="3593592" cy="1033272"/>
          </a:xfrm>
          <a:prstGeom prst="roundRect">
            <a:avLst>
              <a:gd name="adj" fmla="val 7080"/>
            </a:avLst>
          </a:prstGeom>
          <a:solidFill>
            <a:srgbClr val="EEF4FB"/>
          </a:solidFill>
          <a:ln w="12700">
            <a:solidFill>
              <a:srgbClr val="EEF4FB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229600" y="3968496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25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High-Activity Users</a:t>
            </a:r>
            <a:endParaRPr lang="en-US" sz="1250" dirty="0"/>
          </a:p>
        </p:txBody>
      </p:sp>
      <p:sp>
        <p:nvSpPr>
          <p:cNvPr id="15" name="Text 12"/>
          <p:cNvSpPr txBox="1"/>
          <p:nvPr/>
        </p:nvSpPr>
        <p:spPr>
          <a:xfrm>
            <a:off x="10332720" y="3968496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F5F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258 · 25.8%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8229600" y="4306824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251 transactions/month, most volatile → planning reminders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8046720" y="5065776"/>
            <a:ext cx="3593592" cy="1033272"/>
          </a:xfrm>
          <a:prstGeom prst="roundRect">
            <a:avLst>
              <a:gd name="adj" fmla="val 7080"/>
            </a:avLst>
          </a:prstGeom>
          <a:solidFill>
            <a:srgbClr val="EEF4FB"/>
          </a:solidFill>
          <a:ln w="12700">
            <a:solidFill>
              <a:srgbClr val="EEF4FB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8229600" y="5138928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25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Occasional Online-First</a:t>
            </a:r>
            <a:endParaRPr lang="en-US" sz="1250" dirty="0"/>
          </a:p>
        </p:txBody>
      </p:sp>
      <p:sp>
        <p:nvSpPr>
          <p:cNvPr id="19" name="Text 16"/>
          <p:cNvSpPr txBox="1"/>
          <p:nvPr/>
        </p:nvSpPr>
        <p:spPr>
          <a:xfrm>
            <a:off x="10332720" y="5138928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F5F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88 · 8.8%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8229600" y="5477256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Seen ~1 month, 67% online (≈ brief's Emerging Digital) → habit nudges</a:t>
            </a:r>
            <a:endParaRPr lang="en-US" sz="1050" dirty="0"/>
          </a:p>
        </p:txBody>
      </p:sp>
      <p:sp>
        <p:nvSpPr>
          <p:cNvPr id="21" name="Text 18"/>
          <p:cNvSpPr txBox="1"/>
          <p:nvPr/>
        </p:nvSpPr>
        <p:spPr>
          <a:xfrm>
            <a:off x="548640" y="638251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5B6B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team k-means (k = 4) on 8 z-scaled behavioural features, 999 customers. Charts: notebooks/full_pipeline.ipynb.</a:t>
            </a:r>
            <a:endParaRPr lang="en-US" sz="850" dirty="0"/>
          </a:p>
        </p:txBody>
      </p:sp>
      <p:sp>
        <p:nvSpPr>
          <p:cNvPr id="22" name="Text 19"/>
          <p:cNvSpPr txBox="1"/>
          <p:nvPr/>
        </p:nvSpPr>
        <p:spPr>
          <a:xfrm>
            <a:off x="11183112" y="638251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F5F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TASK 4 · VALIDATION, LIMITS &amp; FUTURE WORK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03504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B25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Segments are stable — and December hits every segment by ~13 points</a:t>
            </a:r>
            <a:endParaRPr lang="en-US" sz="2400" dirty="0"/>
          </a:p>
        </p:txBody>
      </p:sp>
      <p:pic>
        <p:nvPicPr>
          <p:cNvPr id="4" name="Image 0" descr="D:\BI10GroupYAPPERS\outputs\figures\deck_t4_decemb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600200"/>
            <a:ext cx="7498080" cy="45262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8275320" y="1600200"/>
            <a:ext cx="3364992" cy="4526280"/>
          </a:xfrm>
          <a:prstGeom prst="roundRect">
            <a:avLst>
              <a:gd name="adj" fmla="val 2717"/>
            </a:avLst>
          </a:prstGeom>
          <a:solidFill>
            <a:srgbClr val="EEF4FB"/>
          </a:solidFill>
          <a:ln w="12700">
            <a:solidFill>
              <a:srgbClr val="EEF4FB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503920" y="1783080"/>
            <a:ext cx="29077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5F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0.99</a:t>
            </a:r>
            <a:endParaRPr lang="en-US" sz="3600" dirty="0"/>
          </a:p>
        </p:txBody>
      </p:sp>
      <p:sp>
        <p:nvSpPr>
          <p:cNvPr id="7" name="Text 4"/>
          <p:cNvSpPr txBox="1"/>
          <p:nvPr/>
        </p:nvSpPr>
        <p:spPr>
          <a:xfrm>
            <a:off x="8503920" y="2560320"/>
            <a:ext cx="29077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B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agreement across 20 random seeds (ARI, 1 = identical)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8503920" y="3200400"/>
            <a:ext cx="2953512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Bootstrap ARI 0.91; December cuts health 12.8–14.2 pts in every segment → reminders for all</a:t>
            </a:r>
            <a:endParaRPr lang="en-US" sz="10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Limits: synthetic folded data; 88 occasional users rest on ~1 month; full-year segments form a continuum (silhouette 0.25); segments lean on age / gender (Cramér's V 0.23 / 0.13) → act on behaviour only</a:t>
            </a:r>
            <a:endParaRPr lang="en-US" sz="10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work: hybrid rules + k-means, month-to-month trajectory features, chronological early-warning on next_month_low_health_flag (support only)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638251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5B6B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team k-means (k = 4) on 8 z-scaled behavioural features, 999 customers. Charts: notebooks/full_pipeline.ipynb.</a:t>
            </a:r>
            <a:endParaRPr lang="en-US" sz="850" dirty="0"/>
          </a:p>
        </p:txBody>
      </p:sp>
      <p:sp>
        <p:nvSpPr>
          <p:cNvPr id="10" name="Text 7"/>
          <p:cNvSpPr txBox="1"/>
          <p:nvPr/>
        </p:nvSpPr>
        <p:spPr>
          <a:xfrm>
            <a:off x="11183112" y="638251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F5F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TASK 5 · RECOMMENDATIONS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03504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B25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Six non-punitive tools, each tied to a measured finding</a:t>
            </a:r>
            <a:endParaRPr lang="en-US" sz="24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1672" cy="914400"/>
        </p:xfrm>
        <a:graphic>
          <a:graphicData uri="http://schemas.openxmlformats.org/drawingml/2006/table">
            <a:tbl>
              <a:tblPr/>
              <a:tblGrid>
                <a:gridCol w="1783080"/>
                <a:gridCol w="2606040"/>
                <a:gridCol w="2606040"/>
                <a:gridCol w="2468880"/>
                <a:gridCol w="1627632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Tool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Target (n, % of 999)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Evidence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Action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KPI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① Budgeting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Stretched &amp; Engaged · 302 (30.2%)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spend/income 0.84; r −0.90 with FHS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Spend-vs-income view, self-set budget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spend/income; stress months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② Spend alerts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Crossover · 43 (4.3%)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52% of stress months; late-night spend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Opt-in pacing alert before 22:00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stress months / customer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③ Planning reminders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High-Activity · 258 (25.8%)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volatility 1.91; December −13 pts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Year-end plan sent in November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Dec drop vs holdout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④ Education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FHS &lt; 70 &amp; engagement &lt; 70 (yearly means) · 67 (6.7%)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86% discretionary vs 55% base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Needs-vs-wants micro-modules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essential share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⑤ Digital nudges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Occasional Online-First · 88 (8.8%)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1–2 active days; 60.6% via app/e-com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Habit nudges in their app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 days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⑥ Product suggestions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Healthy &amp; Engaged, adults 18+ · 350 (35.0%)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lowest utilization 0.15; FHS 70.5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Opt-in savings/loyalty, no credit increase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opt-in uptake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B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1F5F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Segments ① ③ ⑤ ⑥ cover all 999 customers (1 minor in Healthy &amp; Engaged gets no product offer). Overlays: alerts 43 = 39 Stretched + 4 Healthy; education 67 = 64 Occasional + 3 Stretched (sequenced, never in the same week).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638251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5B6B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team k-means (k = 4) on 8 z-scaled behavioural features, 999 customers; consumer_financial_health_engagement_2025 (10,992 consumer-months, 999 customers); consumer_transactions_2025 (1,852,394 transactions). Charts: notebooks/full_pipeline.ipynb.</a:t>
            </a:r>
            <a:endParaRPr lang="en-US" sz="850" dirty="0"/>
          </a:p>
        </p:txBody>
      </p:sp>
      <p:sp>
        <p:nvSpPr>
          <p:cNvPr id="7" name="Text 4"/>
          <p:cNvSpPr txBox="1"/>
          <p:nvPr/>
        </p:nvSpPr>
        <p:spPr>
          <a:xfrm>
            <a:off x="11183112" y="638251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F5F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TASK 5 · PRIORITISATION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03504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B25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Budgeting leads on reach × driver strength; alerts launch first for precision</a:t>
            </a:r>
            <a:endParaRPr lang="en-US" sz="2400" dirty="0"/>
          </a:p>
        </p:txBody>
      </p:sp>
      <p:pic>
        <p:nvPicPr>
          <p:cNvPr id="4" name="Image 0" descr="D:\BI10GroupYAPPERS\outputs\figures\deck_t5_priority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600200"/>
            <a:ext cx="7498080" cy="45262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8275320" y="1600200"/>
            <a:ext cx="3364992" cy="3246120"/>
          </a:xfrm>
          <a:prstGeom prst="roundRect">
            <a:avLst>
              <a:gd name="adj" fmla="val 2817"/>
            </a:avLst>
          </a:prstGeom>
          <a:solidFill>
            <a:srgbClr val="EEF4FB"/>
          </a:solidFill>
          <a:ln w="12700">
            <a:solidFill>
              <a:srgbClr val="EEF4FB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503920" y="1783080"/>
            <a:ext cx="29077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5F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271</a:t>
            </a:r>
            <a:endParaRPr lang="en-US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8503920" y="2560320"/>
            <a:ext cx="29077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B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priority score of the budgeting tool (302 × 0.90)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8503920" y="3200400"/>
            <a:ext cx="295351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Reach × |r|: a ranking heuristic, not an impact estimate; wellbeing first</a:t>
            </a:r>
            <a:endParaRPr lang="en-US" sz="11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Alerts reach only 43 customers but 71% of stress months → wave 1</a:t>
            </a:r>
            <a:endParaRPr lang="en-US" sz="11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Fairness: behaviour-only triggers; uptake tracked by age &amp; gender; no offers to minors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638251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5B6B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consumer_financial_health_engagement_2025 (10,992 consumer-months, 999 customers); team k-means (k = 4) on 8 z-scaled behavioural features, 999 customers. Charts: notebooks/full_pipeline.ipynb.</a:t>
            </a:r>
            <a:endParaRPr lang="en-US" sz="850" dirty="0"/>
          </a:p>
        </p:txBody>
      </p:sp>
      <p:sp>
        <p:nvSpPr>
          <p:cNvPr id="10" name="Text 7"/>
          <p:cNvSpPr txBox="1"/>
          <p:nvPr/>
        </p:nvSpPr>
        <p:spPr>
          <a:xfrm>
            <a:off x="11183112" y="638251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900" dirty="0"/>
          </a:p>
        </p:txBody>
      </p:sp>
      <p:sp>
        <p:nvSpPr>
          <p:cNvPr id="12" name="Shape 8"/>
          <p:cNvSpPr/>
          <p:nvPr/>
        </p:nvSpPr>
        <p:spPr>
          <a:xfrm>
            <a:off x="8275320" y="4983480"/>
            <a:ext cx="3364992" cy="1143000"/>
          </a:xfrm>
          <a:prstGeom prst="roundRect">
            <a:avLst>
              <a:gd name="adj" fmla="val 8000"/>
            </a:avLst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8503920" y="502920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NEVER</a:t>
            </a:r>
            <a:endParaRPr lang="en-US" sz="2200" dirty="0"/>
          </a:p>
        </p:txBody>
      </p:sp>
      <p:sp>
        <p:nvSpPr>
          <p:cNvPr id="14" name="Text 10"/>
          <p:cNvSpPr txBox="1"/>
          <p:nvPr/>
        </p:nvSpPr>
        <p:spPr>
          <a:xfrm>
            <a:off x="8503920" y="5468112"/>
            <a:ext cx="2971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FE0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financial_health_score → deny credit, cut a limit, raise a rate or block an account</a:t>
            </a:r>
            <a:endParaRPr lang="en-US" sz="10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F5F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TASK 5 · IMPACT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03504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B25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What-if: a 10% spend trim would cut stress months by 28–32% — to be tested in a 90-day pilot</a:t>
            </a:r>
            <a:endParaRPr lang="en-US" sz="2400" dirty="0"/>
          </a:p>
        </p:txBody>
      </p:sp>
      <p:pic>
        <p:nvPicPr>
          <p:cNvPr id="4" name="Image 0" descr="D:\BI10GroupYAPPERS\outputs\figures\deck_t5_scenari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600200"/>
            <a:ext cx="7498080" cy="45262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8275320" y="1600200"/>
            <a:ext cx="3364992" cy="4526280"/>
          </a:xfrm>
          <a:prstGeom prst="roundRect">
            <a:avLst>
              <a:gd name="adj" fmla="val 2717"/>
            </a:avLst>
          </a:prstGeom>
          <a:solidFill>
            <a:srgbClr val="EEF4FB"/>
          </a:solidFill>
          <a:ln w="12700">
            <a:solidFill>
              <a:srgbClr val="EEF4FB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503920" y="1783080"/>
            <a:ext cx="29077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F5F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−28–32%</a:t>
            </a:r>
            <a:endParaRPr lang="en-US" sz="3400" dirty="0"/>
          </a:p>
        </p:txBody>
      </p:sp>
      <p:sp>
        <p:nvSpPr>
          <p:cNvPr id="7" name="Text 4"/>
          <p:cNvSpPr txBox="1"/>
          <p:nvPr/>
        </p:nvSpPr>
        <p:spPr>
          <a:xfrm>
            <a:off x="8503920" y="2560320"/>
            <a:ext cx="29077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B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months if the Stretched 302 trim spend-to-income by 10% (simulated, not measured)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8503920" y="3200400"/>
            <a:ext cx="2953512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What-if on FHS = 84.1 − 25.3 × spend/income; part of the gain is mechanical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Roadmap: 0–30 d budgeting + alerts · 31–60 d November reminders + nudges · 61–90 d education + products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tool vs a random 10% holdout for 3 months; scale only what wins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638251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5B6B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consumer_financial_health_engagement_2025 (10,992 consumer-months, 999 customers). Charts: notebooks/full_pipeline.ipynb.</a:t>
            </a:r>
            <a:endParaRPr lang="en-US" sz="850" dirty="0"/>
          </a:p>
        </p:txBody>
      </p:sp>
      <p:sp>
        <p:nvSpPr>
          <p:cNvPr id="10" name="Text 7"/>
          <p:cNvSpPr txBox="1"/>
          <p:nvPr/>
        </p:nvSpPr>
        <p:spPr>
          <a:xfrm>
            <a:off x="11183112" y="638251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B25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7315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A9C6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CONTRACT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18872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Protect the stretched, plan with the active, re-engage the occasional, grow the healthy — without ever touching their credit.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31520" y="3063240"/>
            <a:ext cx="3429000" cy="2240280"/>
          </a:xfrm>
          <a:prstGeom prst="roundRect">
            <a:avLst>
              <a:gd name="adj" fmla="val 3265"/>
            </a:avLst>
          </a:prstGeom>
          <a:solidFill>
            <a:srgbClr val="13345E"/>
          </a:solidFill>
          <a:ln w="12700">
            <a:solidFill>
              <a:srgbClr val="13345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05840" y="320040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A9C6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3703320"/>
            <a:ext cx="29260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Overspending drives poor health (r −0.90); under stress 71.6% of spend is discretionary, and stress peaks in December.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361688" y="3063240"/>
            <a:ext cx="3429000" cy="2240280"/>
          </a:xfrm>
          <a:prstGeom prst="roundRect">
            <a:avLst>
              <a:gd name="adj" fmla="val 3265"/>
            </a:avLst>
          </a:prstGeom>
          <a:solidFill>
            <a:srgbClr val="13345E"/>
          </a:solidFill>
          <a:ln w="12700">
            <a:solidFill>
              <a:srgbClr val="13345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636008" y="320040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A9C6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4636008" y="3703320"/>
            <a:ext cx="29260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stable segments cover all 999 customers; 43 active customers hold 52% of stress months.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7991856" y="3063240"/>
            <a:ext cx="3429000" cy="2240280"/>
          </a:xfrm>
          <a:prstGeom prst="roundRect">
            <a:avLst>
              <a:gd name="adj" fmla="val 3265"/>
            </a:avLst>
          </a:prstGeom>
          <a:solidFill>
            <a:srgbClr val="13345E"/>
          </a:solidFill>
          <a:ln w="12700">
            <a:solidFill>
              <a:srgbClr val="13345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266176" y="320040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A9C6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8266176" y="3703320"/>
            <a:ext cx="29260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Budgeting for 302 and opt-in evening alerts first, each to be measured against a random holdout in a 90-day pilot.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731520" y="557784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CFE0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Honest limits: synthetic data (two source years folded onto 2025), 91 customers seen only once, segments on a continuum — sizes are directional; conclusions rest on ratios.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731520" y="608076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guarantee: wellbeing help, never a credit decision.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ITB Consumer Wellbeing &amp; Segmentation — Group YAPPERS</dc:title>
  <dc:subject>PptxGenJS Presentation</dc:subject>
  <dc:creator>PptxGenJS</dc:creator>
  <cp:lastModifiedBy>PptxGenJS</cp:lastModifiedBy>
  <cp:revision>1</cp:revision>
  <dcterms:created xsi:type="dcterms:W3CDTF">2026-09-27T14:41:19Z</dcterms:created>
  <dcterms:modified xsi:type="dcterms:W3CDTF">2026-09-27T14:41:19Z</dcterms:modified>
</cp:coreProperties>
</file>