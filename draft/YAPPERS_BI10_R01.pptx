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wellbeing frame from second one — customer understanding, never credit scoring.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reads only this slide, they get the whole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arc — EDA and segmentation carry the most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 the two rules: ratios over magnitudes, wellbeing over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Peaks are a frequency phenomenon across every category — the lever is trip frequency, not upsell.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— the gradient proves the inversion is real, not an artefact of the 40/80 cutoffs.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honest negative (age) and one habit insight (fuel/groceries are near-universal).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Q3 asked for the channel breakdown — it answers itself: every hub has the national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is chronically unhealthy — trigger on the month, not the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ratios are the whole game — the quintile chart makes r = −0.90 tangible.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than half of every stress episode happens to someone we can reach in-app — and we now know when.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Deliverable 3 — the honest answer: the one demographic gap is really a spending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Bar, not pie: a pie would hide the 1% tail. Segment on the behaviours underneath, not the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Scatter for two continuous variables; heatmap for the recency × frequency interaction.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sensitivity table is the answer to 'why this cutoff and not tighter or looser'.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Moderate silhouette is expected for a behavioural continuum; the next slides validate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Segment 2 is the addressable wellbeing priority.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Stable enough to act on; the Nov→Dec slide is the timing evidence for planning reminders.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tool per required type, each bound to an exact size, a real ratio and now a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 is the deck's contract — a low score triggers help offered, never access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is a hypothesis we will measure, not a promise.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C3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ITB CONSUMER WELLBEING &amp; SEGMENTATION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non-punitive plan built on spending behaviour, not credit risk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999 consumers · 1.85M transactions — and one finding that reframes everything.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9FB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 ·  BI10 Round 01  ·  September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inversion drives the whole story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Overspend, not low income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82880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spend-to-income (r −0.90) and credit-utilization (r −0.86) explain almost all of financial health.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6148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inverts under stress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2761488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customers spend 71.6% discretionary vs healthy customers' 40.5% — the strongest signal in the data.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9417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is episodic &amp; hits the engaged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3694176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999 chronically stressed; the crossover = 43 consumers = 52% of ALL stress episodes; 72% of Healthy→Stretched slides happen Nov→Dec.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2686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stable segments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4626864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(k=4), 999/999 covered — sizes 351 / 302 / 258 / 88; stable across seeds (ARI 0.99).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5595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6-tool wellbeing plan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5559552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Budgeting (302) + Spend Alerts (43, Sun–Mon evenings); a 10% spend trim cuts stress months ~32%. FHS never denies, cuts, or blocks credit.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9202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Case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2918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— Exploratory Data Analysis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4663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Financial Health Analysis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0" y="19202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19202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— Customer Engagement Analysis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0" y="32918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32918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— Customer Segmentation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0" y="46634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4663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— Recommendations &amp; Impact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case: understand wellbeing, not score credit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852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ITB, a Vietnamese consumer-finance company, wants to understand customer wellbeing, spending and engagement.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customer understanding &amp; segmentation — NOT credit-risk decision-making.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ratios and shares, never absolute VND: synthetic income/credit/balance magnitudes are inflated.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analysed at consumer-MONTH grain (episodic); "what kind of customer" at consumer level.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675120" y="164592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EAF3F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0" y="175564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999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23957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326880" y="164592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EA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326880" y="175564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1.85M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23957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675120" y="306324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EAF3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0" y="317296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813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year, VND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326880" y="306324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EAF3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26880" y="317296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3813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are the signal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675120" y="4572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12435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03720" y="4681728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rule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financial_health_score is a wellbeing measure — never used to deny credit, cut a limit, or block an account.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December is the spending engine — and it runs on frequency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= 488B VND = 15.0% of the 3.24T annual — 2.8× the Feb trough.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is frequency: transaction count +187%, avg ticket −2.6%.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uplift is uniform: all 14 categories grow +181% to +193% — no single category drives it.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capacity, fraud monitoring &amp; campaigns to volume, not basket size.</a:t>
            </a:r>
            <a:endParaRPr lang="en-US" sz="1400" dirty="0"/>
          </a:p>
        </p:txBody>
      </p:sp>
      <p:pic>
        <p:nvPicPr>
          <p:cNvPr id="5" name="Image 0" descr="D:\BI10GroupYAPPERS\outputs\figures\t1_monthly_sp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8521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All timestamps are 2025; the uniform uplift looks like a synthetic seasonal multiplier — treat 15% as directional.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— THE SPINE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stress flips the budget: essential → discretionary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11247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(FHS &lt; 40): 72% discretionary vs healthy (FHS ≥ 80): 40% — the mix inverts completely.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gradient, not a threshold artefact: 72% → 64% → 57% → 54% → 49% → 41% across FHS bands; any cutoff pair keeps the direction (FHS&lt;35 vs ≥85: 74% vs 30%).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Highest-leverage help = budgeting visibility on discretionary spend, not credit restriction. This contrast anchors Tasks 4 and 5.</a:t>
            </a:r>
            <a:endParaRPr lang="en-US" sz="1400" dirty="0"/>
          </a:p>
        </p:txBody>
      </p:sp>
      <p:pic>
        <p:nvPicPr>
          <p:cNvPr id="5" name="Image 0" descr="D:\BI10GroupYAPPERS\outputs\figures\t1_essential_discretion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63240"/>
            <a:ext cx="5440680" cy="3200400"/>
          </a:xfrm>
          <a:prstGeom prst="rect">
            <a:avLst/>
          </a:prstGeom>
        </p:spPr>
      </p:pic>
      <p:pic>
        <p:nvPicPr>
          <p:cNvPr id="6" name="Image 1" descr="D:\BI10GroupYAPPERS\outputs\figures\t1_discretionary_gradien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63240"/>
            <a:ext cx="5440680" cy="3200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signal is NOT: age is flat; categories are habits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11247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shopping rhythms: Fuel = frequent touchpoint (1.59M ticket, bought by 96.8% of consumers); Groceries = 1.8× larger basket, bought by 99.3%.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25–34 has the lowest point estimate (FHS 65.8, highest spend/income 0.716) — but bootstrap 95% CIs of all six age cohorts overlap (65.8–67.0).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does not separate financial health → target behavioural ratios, not birth year.</a:t>
            </a:r>
            <a:endParaRPr lang="en-US" sz="1400" dirty="0"/>
          </a:p>
        </p:txBody>
      </p:sp>
      <p:pic>
        <p:nvPicPr>
          <p:cNvPr id="5" name="Image 0" descr="D:\BI10GroupYAPPERS\outputs\figures\t1_category_tick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63240"/>
            <a:ext cx="5440680" cy="3200400"/>
          </a:xfrm>
          <a:prstGeom prst="rect">
            <a:avLst/>
          </a:prstGeom>
        </p:spPr>
      </p:pic>
      <p:pic>
        <p:nvPicPr>
          <p:cNvPr id="6" name="Image 1" descr="D:\BI10GroupYAPPERS\outputs\figures\t1_age_cohor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63240"/>
            <a:ext cx="5440680" cy="3200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regional digital divide: high-spend provinces mirror the nation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high-spend provinces with below-average digital share: Ha Noi, Dong Nai, Lam Dong, Hung Yen, Hai Phong.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58.9–59.3% of transactions vs 58.8% nationally; QR ~20%, E-com ~8.5%, Mobile ~7.5%, Recurring ~5%.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digital gap: −0.46pp (Dong Nai); digital value share 40.9–41.5% vs 41.5%.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 real but commercially negligible → province is not a lever for digital adoption.</a:t>
            </a:r>
            <a:endParaRPr lang="en-US" sz="1400" dirty="0"/>
          </a:p>
        </p:txBody>
      </p:sp>
      <p:pic>
        <p:nvPicPr>
          <p:cNvPr id="5" name="Image 0" descr="D:\BI10GroupYAPPERS\outputs\figures\t1_province_chann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502920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12435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5138928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0.46pp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57790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digital-share gap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 is a tight band; distress is episodic, never chronic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Consumer-level FHS: mean 66.3, range 42–81 — a narrow band with a mild low tail.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months only 0.9%; 0 of 999 consumers have a 12-month mean below 40.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is episodic — healthy people dip in specific months (Feb 73.6 → Dec 54.2).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Interventions must be event-triggered on the current month, not a static risk list.</a:t>
            </a:r>
            <a:endParaRPr lang="en-US" sz="1400" dirty="0"/>
          </a:p>
        </p:txBody>
      </p:sp>
      <p:pic>
        <p:nvPicPr>
          <p:cNvPr id="5" name="Image 0" descr="D:\BI10GroupYAPPERS\outputs\figures\t2_fhs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health is an overspend story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11247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correlates: spend-to-income −0.90, credit-utilization −0.86, volatility −0.50. Stressed vs healthy months: spend/income 2.10 vs 0.29.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by step: mean FHS falls 72.4 → 68.4 → 66.0 → 63.8 → 60.9 across spend-to-income quintiles (−11.4 pts, ~10× the age spread).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Counter-intuitive: stressed months are MORE engaged (81.1 vs 72.7). FHS and ratios share spend fields — directional, not causal.</a:t>
            </a:r>
            <a:endParaRPr lang="en-US" sz="1400" dirty="0"/>
          </a:p>
        </p:txBody>
      </p:sp>
      <p:pic>
        <p:nvPicPr>
          <p:cNvPr id="5" name="Image 0" descr="D:\BI10GroupYAPPERS\outputs\figures\t2_low_health_driv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63240"/>
            <a:ext cx="5440680" cy="3200400"/>
          </a:xfrm>
          <a:prstGeom prst="rect">
            <a:avLst/>
          </a:prstGeom>
        </p:spPr>
      </p:pic>
      <p:pic>
        <p:nvPicPr>
          <p:cNvPr id="6" name="Image 1" descr="D:\BI10GroupYAPPERS\outputs\figures\t2_sti_quinti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63240"/>
            <a:ext cx="5440680" cy="3200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"Stressed but Engaged" crossover — and when to reach 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11247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(month grain): FHS &lt; 40 AND engagement ≥ p75 (81.4) → 43 consumers = 52% of ALL stress episodes; stable at p70/p80 (44/41 consumers, 53%/48%).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months put 23.5% of spend into 22–23h vs 8.3% for healthy — bigger late-night tickets, not more of them (count 11.6% vs 9.7%).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 + Monday carry 42% of stressed spend (vs 34%) → send pacing alerts Sunday–Monday evenings, before 22:00.</a:t>
            </a:r>
            <a:endParaRPr lang="en-US" sz="1400" dirty="0"/>
          </a:p>
        </p:txBody>
      </p:sp>
      <p:pic>
        <p:nvPicPr>
          <p:cNvPr id="5" name="Image 0" descr="D:\BI10GroupYAPPERS\outputs\figures\t2_cross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63240"/>
            <a:ext cx="5440680" cy="3200400"/>
          </a:xfrm>
          <a:prstGeom prst="rect">
            <a:avLst/>
          </a:prstGeom>
        </p:spPr>
      </p:pic>
      <p:pic>
        <p:nvPicPr>
          <p:cNvPr id="6" name="Image 1" descr="D:\BI10GroupYAPPERS\outputs\figures\t2_tim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63240"/>
            <a:ext cx="5440680" cy="3200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differs? Province and age barely; occupation through spending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112471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Province: 22 of 27 provinces (≥15 consumers) have a 95% CI containing the national mean 66.3. Age: all six cohort CIs overlap.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 (396 titles → 8 groups): Engineering/IT 69.1 and Business/finance 68.7 vs Office/public 64.5 and Manual 62.9 — a ~6-pt spread that mirrors spend-to-income (0.60 vs 0.76–0.79).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 act through the overspend ratio → target the ratio, never the group.</a:t>
            </a:r>
            <a:endParaRPr lang="en-US" sz="1400" dirty="0"/>
          </a:p>
        </p:txBody>
      </p:sp>
      <p:pic>
        <p:nvPicPr>
          <p:cNvPr id="5" name="Image 0" descr="D:\BI10GroupYAPPERS\outputs\figures\t2_demographic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926080"/>
            <a:ext cx="11247120" cy="34747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Engagement is saturated; digital is broad but shallow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11247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by engagement segment: Low 1.0% · Medium 8.0% · High 74.1% · Very high 16.9% — the score does NOT segment the base.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mix: POS 58.8% · QR 19.8% · E-com 8.7% · Mobile 7.7% · Recurring 4.9%; average online spend share 24.7% per consumer.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Non-POS channels carry 41% of trips and 41.5% of value (same ticket size as POS); truly online E-com + Mobile is ~17% of value.</a:t>
            </a:r>
            <a:endParaRPr lang="en-US" sz="1400" dirty="0"/>
          </a:p>
        </p:txBody>
      </p:sp>
      <p:pic>
        <p:nvPicPr>
          <p:cNvPr id="5" name="Image 0" descr="D:\BI10GroupYAPPERS\outputs\figures\t3_segment_sha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63240"/>
            <a:ext cx="5440680" cy="3200400"/>
          </a:xfrm>
          <a:prstGeom prst="rect">
            <a:avLst/>
          </a:prstGeom>
        </p:spPr>
      </p:pic>
      <p:pic>
        <p:nvPicPr>
          <p:cNvPr id="6" name="Image 1" descr="D:\BI10GroupYAPPERS\outputs\figures\t3_channel_mi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63240"/>
            <a:ext cx="5440680" cy="3200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discriminates: diversity &amp; consistency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11247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diversity: r +0.94 with engagement; still +0.81 without the dormant tail (Spearman +0.85) — not a tail artefact.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Heatmap: 30–31 active days &amp; recency 0 → engagement 79.8 (n=6,614); every 1–5-active-day cell stays ≤ 55 whatever the recency.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beats recency and volume → build the early-warning flag on falling diversity and active days.</a:t>
            </a:r>
            <a:endParaRPr lang="en-US" sz="1400" dirty="0"/>
          </a:p>
        </p:txBody>
      </p:sp>
      <p:pic>
        <p:nvPicPr>
          <p:cNvPr id="5" name="Image 0" descr="D:\BI10GroupYAPPERS\outputs\figures\t3_diversity_vs_engagem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63240"/>
            <a:ext cx="5440680" cy="3200400"/>
          </a:xfrm>
          <a:prstGeom prst="rect">
            <a:avLst/>
          </a:prstGeom>
        </p:spPr>
      </p:pic>
      <p:pic>
        <p:nvPicPr>
          <p:cNvPr id="6" name="Image 1" descr="D:\BI10GroupYAPPERS\outputs\figures\t3_recency_frequenc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63240"/>
            <a:ext cx="5440680" cy="3200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High-health, low-engagement: dormancy hiding in "healthy"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Cutoff: FHS ≥ 70 AND engagement &lt; 70 → 25 consumers (2.5%).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70: the count is 25 at engagement &lt; 60, 65 and 70 (a natural gap) and jumps to 63 at &lt; 75; FHS ≥ 65 gives 48, ≥ 75 gives 9.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moved spend to narrow online use (diversity 4.7 vs 13.2; online 0.61 vs 0.24); 24 of 25 sit in Emerging Digital.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= reactivation of everyday use, NOT budgeting.</a:t>
            </a:r>
            <a:endParaRPr lang="en-US" sz="1400" dirty="0"/>
          </a:p>
        </p:txBody>
      </p:sp>
      <p:pic>
        <p:nvPicPr>
          <p:cNvPr id="5" name="Image 0" descr="D:\BI10GroupYAPPERS\outputs\figures\t3_health_vs_engagement_quadra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8521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 = 25, synthetic-inflated engagement — a cohort to watch, not a sized forecast.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Method: cluster on behaviour, justify k honestly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10,992 consumer-months → 999 consumers (yearly mean profile); preprocessed dataset + dictionary delivered.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z-scaled behavioural features across health, engagement &amp; spending; demographics kept out of clustering, used only to profile.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chosen over a pure 2×2 so boundaries form across all 8 dimensions at once.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k=4 via elbow + silhouette (0.251); coverage 999/999, all 7 minors retained — PASS.</a:t>
            </a:r>
            <a:endParaRPr lang="en-US" sz="1400" dirty="0"/>
          </a:p>
        </p:txBody>
      </p:sp>
      <p:pic>
        <p:nvPicPr>
          <p:cNvPr id="5" name="Image 0" descr="D:\BI10GroupYAPPERS\outputs\figures\t4_silhouet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customer segments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11247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Financially Healthy &amp; Highly Engaged — 351 (35%): FHS 70.5, lowest util 0.148 → retain &amp; grow value.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Financially Stretched but Highly Engaged — 302 (30%): highest spend/income 0.835, still engaged → the wellbeing priority.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High-Activity Digital Power Users — 258 (26%): most active &amp; volatile → monetise &amp; monitor drift.  ·  Low Engagement &amp; Emerging Digital — 88 (9%): near-dormant, 60% of spend via E-com/Mobile → activate.</a:t>
            </a:r>
            <a:endParaRPr lang="en-US" sz="1400" dirty="0"/>
          </a:p>
        </p:txBody>
      </p:sp>
      <p:pic>
        <p:nvPicPr>
          <p:cNvPr id="5" name="Image 0" descr="D:\BI10GroupYAPPERS\outputs\figures\t4_segment_siz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63240"/>
            <a:ext cx="5440680" cy="3200400"/>
          </a:xfrm>
          <a:prstGeom prst="rect">
            <a:avLst/>
          </a:prstGeom>
        </p:spPr>
      </p:pic>
      <p:pic>
        <p:nvPicPr>
          <p:cNvPr id="6" name="Image 1" descr="D:\BI10GroupYAPPERS\outputs\figures\t4_segment_profil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63240"/>
            <a:ext cx="5440680" cy="3200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Validation: stable segments, and a December slide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Stable: 20 random seeds → ARI 0.988; 80% bootstrap × 50 → ARI 0.911.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GMM agrees only partly (ARI 0.26): Emerging Digital is identical, the three large segments form one continuum — hence silhouette 0.251.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migration: a Healthy month slides to Stretched 23% of the time — but 72% from November to December.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 correlate with age &amp; gender (p &lt; 0.01) though not used as inputs → trigger tools on behaviour only.</a:t>
            </a:r>
            <a:endParaRPr lang="en-US" sz="1400" dirty="0"/>
          </a:p>
        </p:txBody>
      </p:sp>
      <p:pic>
        <p:nvPicPr>
          <p:cNvPr id="5" name="Image 0" descr="D:\BI10GroupYAPPERS\outputs\figures\t4_pc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502920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12435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5138928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72%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57790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→ Stretched, Nov → Dec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six-tool, non-punitive action plan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Budgeting → Stretched-Engaged (302): spend-vs-income dashboard (driver −0.90).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Spend alerts → Crossover (43 = 52% of stress): Sunday–Monday evenings, before 22:00.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Planning reminders → Power Users (258) + Healthy (351) in November, before the 72% December slide.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Education → Distress tail (67): needs-vs-wants modules (essential ratio +0.48).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Digital nudges → Emerging Digital (88): in-app habit loops — they already spend 60% via E-com/Mobile.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Product suggestions → Healthy-Engaged (351): savings/loyalty, opt-in, never auto-extend.</a:t>
            </a:r>
            <a:endParaRPr lang="en-US" sz="1400" dirty="0"/>
          </a:p>
        </p:txBody>
      </p:sp>
      <p:pic>
        <p:nvPicPr>
          <p:cNvPr id="5" name="Image 0" descr="D:\BI10GroupYAPPERS\outputs\figures\t5_target_siz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Prioritization &amp; the ethical rule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(reach × driver): Budgeting → Alerts → Reminders → Products → Nudges → Education.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Budgeting + Alerts (the wellbeing mission); layer growth on top.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double-counting: the 4 segments partition 999; crossover (43) &amp; distress (67) are overlays inside Segment 2.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by design: every trigger is a behavioural ratio; segments correlate with age/gender, so we never target by demographics.</a:t>
            </a:r>
            <a:endParaRPr lang="en-US" sz="1400" dirty="0"/>
          </a:p>
        </p:txBody>
      </p:sp>
      <p:pic>
        <p:nvPicPr>
          <p:cNvPr id="5" name="Image 0" descr="D:\BI10GroupYAPPERS\outputs\figures\t5_priority_rank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502920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12435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5138928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57790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FHS → credit decision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IMPACT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impact, measurement &amp; a 90-day roadmap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760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(illustrative): FHS = 84.1 − 25.3 × spend/income. A 10% trim for the Stretched 302 cuts stress months 95 → 65 (−32%); 5% → 80 (−16%).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gets one KPI and a randomised holdout (e.g. Budgeting: spend-to-income, 10% holdout for 3 months).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0–30: Budgeting + Alerts · 31–60: November Reminders + Nudges · 61–90: Education + opt-in Products; keep what moves the KPI.</a:t>
            </a:r>
            <a:endParaRPr lang="en-US" sz="1400" dirty="0"/>
          </a:p>
        </p:txBody>
      </p:sp>
      <p:pic>
        <p:nvPicPr>
          <p:cNvPr id="5" name="Image 0" descr="D:\BI10GroupYAPPERS\outputs\figures\t5_impact_scena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8521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FHS embeds spend fields — the slope is mechanical; a scenario to test, not a forecast.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57200" y="502920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12435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" y="5138928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−32%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57790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months at a 10% trim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C3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3444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 the healthy, activate the dormant, protect the stretched —</a:t>
            </a:r>
            <a:endParaRPr lang="en-US" sz="2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ever touching their credit.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30632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Overspend drives poor health; the budget inverts under stress; stress is episodic, striking the most engaged.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9624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849624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clean segments (351/302/258/88) and a 6-tool plan reaching every customer with the right non-punitive touch.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63600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action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4636008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Budgeting for 302 + real-time Alerts catching 52% of all stress — highest reach × strongest driver, near-zero cost.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422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54223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single-year data, uniform December uplift, engineered engagement, segments on a continuum — sizes directional, conclusions robust on ratios.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guarantee: wellbeing help, never a credit decision.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2026-09-27T06:48:54Z</dcterms:created>
  <dcterms:modified xsi:type="dcterms:W3CDTF">2026-09-27T06:48:54Z</dcterms:modified>
</cp:coreProperties>
</file>